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88" r:id="rId4"/>
    <p:sldId id="290" r:id="rId5"/>
    <p:sldId id="289" r:id="rId6"/>
    <p:sldId id="291" r:id="rId7"/>
    <p:sldId id="258" r:id="rId8"/>
    <p:sldId id="294" r:id="rId9"/>
    <p:sldId id="295" r:id="rId10"/>
    <p:sldId id="286" r:id="rId11"/>
    <p:sldId id="285" r:id="rId12"/>
    <p:sldId id="298" r:id="rId13"/>
    <p:sldId id="299" r:id="rId14"/>
    <p:sldId id="283" r:id="rId15"/>
    <p:sldId id="301" r:id="rId16"/>
    <p:sldId id="302" r:id="rId17"/>
    <p:sldId id="293" r:id="rId18"/>
    <p:sldId id="259" r:id="rId19"/>
    <p:sldId id="260" r:id="rId20"/>
    <p:sldId id="296" r:id="rId21"/>
    <p:sldId id="297" r:id="rId22"/>
    <p:sldId id="262" r:id="rId23"/>
    <p:sldId id="263" r:id="rId24"/>
    <p:sldId id="264" r:id="rId25"/>
    <p:sldId id="282" r:id="rId26"/>
    <p:sldId id="300" r:id="rId27"/>
    <p:sldId id="265" r:id="rId28"/>
    <p:sldId id="269" r:id="rId29"/>
    <p:sldId id="287" r:id="rId30"/>
    <p:sldId id="271" r:id="rId31"/>
    <p:sldId id="270" r:id="rId32"/>
    <p:sldId id="284" r:id="rId33"/>
    <p:sldId id="27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100" d="100"/>
          <a:sy n="100" d="100"/>
        </p:scale>
        <p:origin x="-274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623ADC-730C-4142-8F09-BA2134B73072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046482D-41C6-4186-A406-9C261096145E}">
      <dgm:prSet/>
      <dgm:spPr/>
      <dgm:t>
        <a:bodyPr/>
        <a:lstStyle/>
        <a:p>
          <a:pPr>
            <a:defRPr b="1"/>
          </a:pPr>
          <a:r>
            <a:rPr lang="en-GB" dirty="0"/>
            <a:t>Model is trained on an 80:20 train-test split of RAVDESS dataset. </a:t>
          </a:r>
          <a:endParaRPr lang="en-US" dirty="0"/>
        </a:p>
      </dgm:t>
    </dgm:pt>
    <dgm:pt modelId="{8D5916A2-B675-4ECD-A127-290CD68D562E}" type="parTrans" cxnId="{9748422A-6EE5-4CBF-9577-16368C9E2C92}">
      <dgm:prSet/>
      <dgm:spPr/>
      <dgm:t>
        <a:bodyPr/>
        <a:lstStyle/>
        <a:p>
          <a:endParaRPr lang="en-US"/>
        </a:p>
      </dgm:t>
    </dgm:pt>
    <dgm:pt modelId="{1A041D10-1C01-484B-818D-504C3E7CBAA1}" type="sibTrans" cxnId="{9748422A-6EE5-4CBF-9577-16368C9E2C92}">
      <dgm:prSet/>
      <dgm:spPr/>
      <dgm:t>
        <a:bodyPr/>
        <a:lstStyle/>
        <a:p>
          <a:endParaRPr lang="en-US"/>
        </a:p>
      </dgm:t>
    </dgm:pt>
    <dgm:pt modelId="{546F098C-4D27-4E68-9BB6-E65E6C30E5CC}">
      <dgm:prSet custT="1"/>
      <dgm:spPr/>
      <dgm:t>
        <a:bodyPr/>
        <a:lstStyle/>
        <a:p>
          <a:pPr>
            <a:defRPr b="1"/>
          </a:pPr>
          <a:r>
            <a:rPr lang="en-GB" sz="1800"/>
            <a:t>Used MSE as loss function, Adam optimizer and learning rate is set to 1e-3</a:t>
          </a:r>
          <a:r>
            <a:rPr lang="en-GB" sz="1400"/>
            <a:t>.</a:t>
          </a:r>
          <a:endParaRPr lang="en-US" sz="1400" dirty="0"/>
        </a:p>
      </dgm:t>
    </dgm:pt>
    <dgm:pt modelId="{4AF38D6B-A36F-46DB-9AFA-2D907D63EE89}" type="parTrans" cxnId="{FDEE586D-4A40-4869-8D4F-AC0B061F92E4}">
      <dgm:prSet/>
      <dgm:spPr/>
      <dgm:t>
        <a:bodyPr/>
        <a:lstStyle/>
        <a:p>
          <a:endParaRPr lang="en-US"/>
        </a:p>
      </dgm:t>
    </dgm:pt>
    <dgm:pt modelId="{D6DB0A2B-806B-4BB5-806D-417F91F47676}" type="sibTrans" cxnId="{FDEE586D-4A40-4869-8D4F-AC0B061F92E4}">
      <dgm:prSet/>
      <dgm:spPr/>
      <dgm:t>
        <a:bodyPr/>
        <a:lstStyle/>
        <a:p>
          <a:endParaRPr lang="en-US"/>
        </a:p>
      </dgm:t>
    </dgm:pt>
    <dgm:pt modelId="{14E051F5-95C0-40B6-9008-90A01AD57F20}">
      <dgm:prSet/>
      <dgm:spPr/>
      <dgm:t>
        <a:bodyPr/>
        <a:lstStyle/>
        <a:p>
          <a:pPr>
            <a:defRPr b="1"/>
          </a:pPr>
          <a:r>
            <a:rPr lang="en-GB"/>
            <a:t>Further tested on following datasets – </a:t>
          </a:r>
          <a:endParaRPr lang="en-US"/>
        </a:p>
      </dgm:t>
    </dgm:pt>
    <dgm:pt modelId="{EA33FD9E-57A3-45FE-A4EA-2CFE200B39A0}" type="parTrans" cxnId="{51E8F031-8544-413D-BE68-F1DC34E4BB1A}">
      <dgm:prSet/>
      <dgm:spPr/>
      <dgm:t>
        <a:bodyPr/>
        <a:lstStyle/>
        <a:p>
          <a:endParaRPr lang="en-US"/>
        </a:p>
      </dgm:t>
    </dgm:pt>
    <dgm:pt modelId="{D286B7E0-032C-47A2-8159-714B79562830}" type="sibTrans" cxnId="{51E8F031-8544-413D-BE68-F1DC34E4BB1A}">
      <dgm:prSet/>
      <dgm:spPr/>
      <dgm:t>
        <a:bodyPr/>
        <a:lstStyle/>
        <a:p>
          <a:endParaRPr lang="en-US"/>
        </a:p>
      </dgm:t>
    </dgm:pt>
    <dgm:pt modelId="{E3A2EE33-DE25-441F-8344-83A7333EB577}">
      <dgm:prSet/>
      <dgm:spPr/>
      <dgm:t>
        <a:bodyPr/>
        <a:lstStyle/>
        <a:p>
          <a:r>
            <a:rPr lang="en-GB" dirty="0"/>
            <a:t>CREMA-D ( English ) </a:t>
          </a:r>
          <a:endParaRPr lang="en-US" dirty="0"/>
        </a:p>
      </dgm:t>
    </dgm:pt>
    <dgm:pt modelId="{4DC52811-0159-4E5A-8B9F-F23D2B235F87}" type="parTrans" cxnId="{84B1EAD4-CA29-44F6-9A3E-46ECF73A3A4B}">
      <dgm:prSet/>
      <dgm:spPr/>
      <dgm:t>
        <a:bodyPr/>
        <a:lstStyle/>
        <a:p>
          <a:endParaRPr lang="en-US"/>
        </a:p>
      </dgm:t>
    </dgm:pt>
    <dgm:pt modelId="{9A2176F0-0E62-4A35-992B-0BEAE475C06F}" type="sibTrans" cxnId="{84B1EAD4-CA29-44F6-9A3E-46ECF73A3A4B}">
      <dgm:prSet/>
      <dgm:spPr/>
      <dgm:t>
        <a:bodyPr/>
        <a:lstStyle/>
        <a:p>
          <a:endParaRPr lang="en-US"/>
        </a:p>
      </dgm:t>
    </dgm:pt>
    <dgm:pt modelId="{44C40A15-0098-4C21-8526-86FAAB9CC63C}">
      <dgm:prSet/>
      <dgm:spPr/>
      <dgm:t>
        <a:bodyPr/>
        <a:lstStyle/>
        <a:p>
          <a:r>
            <a:rPr lang="en-GB" dirty="0"/>
            <a:t>EmoDB ( German) </a:t>
          </a:r>
          <a:endParaRPr lang="en-US" dirty="0"/>
        </a:p>
      </dgm:t>
    </dgm:pt>
    <dgm:pt modelId="{184348E6-F551-4EC4-AA5F-4AF1C92E7CFE}" type="parTrans" cxnId="{8CDF6205-75B4-4864-BE35-787AD2380B54}">
      <dgm:prSet/>
      <dgm:spPr/>
      <dgm:t>
        <a:bodyPr/>
        <a:lstStyle/>
        <a:p>
          <a:endParaRPr lang="en-US"/>
        </a:p>
      </dgm:t>
    </dgm:pt>
    <dgm:pt modelId="{0C3450C9-E684-494E-94E6-3797F68A37AD}" type="sibTrans" cxnId="{8CDF6205-75B4-4864-BE35-787AD2380B54}">
      <dgm:prSet/>
      <dgm:spPr/>
      <dgm:t>
        <a:bodyPr/>
        <a:lstStyle/>
        <a:p>
          <a:endParaRPr lang="en-US"/>
        </a:p>
      </dgm:t>
    </dgm:pt>
    <dgm:pt modelId="{A796DA96-F161-4354-81B3-6609189EE406}">
      <dgm:prSet/>
      <dgm:spPr/>
      <dgm:t>
        <a:bodyPr/>
        <a:lstStyle/>
        <a:p>
          <a:r>
            <a:rPr lang="en-GB"/>
            <a:t>TESS ( English)</a:t>
          </a:r>
          <a:endParaRPr lang="en-US"/>
        </a:p>
      </dgm:t>
    </dgm:pt>
    <dgm:pt modelId="{39839E8E-5E99-45CA-941D-0D4425989A86}" type="parTrans" cxnId="{0D082DF0-03D0-434D-98CB-1D9676DE86EA}">
      <dgm:prSet/>
      <dgm:spPr/>
      <dgm:t>
        <a:bodyPr/>
        <a:lstStyle/>
        <a:p>
          <a:endParaRPr lang="en-US"/>
        </a:p>
      </dgm:t>
    </dgm:pt>
    <dgm:pt modelId="{5D169B23-E911-44DA-9FCE-1C3B6FFCF412}" type="sibTrans" cxnId="{0D082DF0-03D0-434D-98CB-1D9676DE86EA}">
      <dgm:prSet/>
      <dgm:spPr/>
      <dgm:t>
        <a:bodyPr/>
        <a:lstStyle/>
        <a:p>
          <a:endParaRPr lang="en-US"/>
        </a:p>
      </dgm:t>
    </dgm:pt>
    <dgm:pt modelId="{1C131114-14F0-4117-93D0-D0EB779FCC9F}">
      <dgm:prSet/>
      <dgm:spPr/>
      <dgm:t>
        <a:bodyPr/>
        <a:lstStyle/>
        <a:p>
          <a:r>
            <a:rPr lang="en-GB" dirty="0"/>
            <a:t>IESC ( Hindi ) ( Indian Emotional Speech Corpora) (</a:t>
          </a:r>
          <a:r>
            <a:rPr lang="en-GB" b="1" dirty="0"/>
            <a:t>Not in the paper</a:t>
          </a:r>
          <a:r>
            <a:rPr lang="en-GB" dirty="0"/>
            <a:t>) </a:t>
          </a:r>
          <a:endParaRPr lang="en-US" dirty="0"/>
        </a:p>
      </dgm:t>
    </dgm:pt>
    <dgm:pt modelId="{E22819A4-6736-4CB9-B48F-EBB3F86699C5}" type="parTrans" cxnId="{5ACC050A-943F-43C1-B732-2D04D992DBCC}">
      <dgm:prSet/>
      <dgm:spPr/>
      <dgm:t>
        <a:bodyPr/>
        <a:lstStyle/>
        <a:p>
          <a:endParaRPr lang="en-US"/>
        </a:p>
      </dgm:t>
    </dgm:pt>
    <dgm:pt modelId="{0CF5C4F6-A76D-46FE-8242-36367FE6D559}" type="sibTrans" cxnId="{5ACC050A-943F-43C1-B732-2D04D992DBCC}">
      <dgm:prSet/>
      <dgm:spPr/>
      <dgm:t>
        <a:bodyPr/>
        <a:lstStyle/>
        <a:p>
          <a:endParaRPr lang="en-US"/>
        </a:p>
      </dgm:t>
    </dgm:pt>
    <dgm:pt modelId="{A2F33D44-9B4A-429B-B8EF-6DCA0CF54C49}" type="pres">
      <dgm:prSet presAssocID="{E6623ADC-730C-4142-8F09-BA2134B73072}" presName="Name0" presStyleCnt="0">
        <dgm:presLayoutVars>
          <dgm:dir/>
          <dgm:animLvl val="lvl"/>
          <dgm:resizeHandles val="exact"/>
        </dgm:presLayoutVars>
      </dgm:prSet>
      <dgm:spPr/>
    </dgm:pt>
    <dgm:pt modelId="{6C16BEF2-D438-4CB0-A915-59AA59ED3045}" type="pres">
      <dgm:prSet presAssocID="{F046482D-41C6-4186-A406-9C261096145E}" presName="composite" presStyleCnt="0"/>
      <dgm:spPr/>
    </dgm:pt>
    <dgm:pt modelId="{36710048-3C7B-41CA-9ACA-2C415B3CD90B}" type="pres">
      <dgm:prSet presAssocID="{F046482D-41C6-4186-A406-9C261096145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9AA15D0-2573-4235-8A47-C37C2385FB38}" type="pres">
      <dgm:prSet presAssocID="{F046482D-41C6-4186-A406-9C261096145E}" presName="desTx" presStyleLbl="revTx" presStyleIdx="0" presStyleCnt="1">
        <dgm:presLayoutVars>
          <dgm:bulletEnabled val="1"/>
        </dgm:presLayoutVars>
      </dgm:prSet>
      <dgm:spPr/>
    </dgm:pt>
    <dgm:pt modelId="{48B64D8B-BE27-4338-BE90-AE1A77CE49E7}" type="pres">
      <dgm:prSet presAssocID="{1A041D10-1C01-484B-818D-504C3E7CBAA1}" presName="space" presStyleCnt="0"/>
      <dgm:spPr/>
    </dgm:pt>
    <dgm:pt modelId="{89EF8610-BC4D-4627-BC03-FEAD16F56E6E}" type="pres">
      <dgm:prSet presAssocID="{546F098C-4D27-4E68-9BB6-E65E6C30E5CC}" presName="composite" presStyleCnt="0"/>
      <dgm:spPr/>
    </dgm:pt>
    <dgm:pt modelId="{F4C97A8B-E4F8-4C53-8808-F936BBBCDC5F}" type="pres">
      <dgm:prSet presAssocID="{546F098C-4D27-4E68-9BB6-E65E6C30E5CC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3701F3E-F625-4FF5-9E1E-334C963DA6AC}" type="pres">
      <dgm:prSet presAssocID="{546F098C-4D27-4E68-9BB6-E65E6C30E5CC}" presName="desTx" presStyleLbl="revTx" presStyleIdx="0" presStyleCnt="1">
        <dgm:presLayoutVars>
          <dgm:bulletEnabled val="1"/>
        </dgm:presLayoutVars>
      </dgm:prSet>
      <dgm:spPr/>
    </dgm:pt>
    <dgm:pt modelId="{7EAA8DA1-A190-4439-BFB7-EC82A5C62838}" type="pres">
      <dgm:prSet presAssocID="{D6DB0A2B-806B-4BB5-806D-417F91F47676}" presName="space" presStyleCnt="0"/>
      <dgm:spPr/>
    </dgm:pt>
    <dgm:pt modelId="{3419B176-8B5D-4EFF-A2FA-55EE13A16255}" type="pres">
      <dgm:prSet presAssocID="{14E051F5-95C0-40B6-9008-90A01AD57F20}" presName="composite" presStyleCnt="0"/>
      <dgm:spPr/>
    </dgm:pt>
    <dgm:pt modelId="{92B9E125-1181-42E6-9A11-914558566BDC}" type="pres">
      <dgm:prSet presAssocID="{14E051F5-95C0-40B6-9008-90A01AD57F20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FBCCFAAC-7EB7-4A3B-9CF3-E905C40E2022}" type="pres">
      <dgm:prSet presAssocID="{14E051F5-95C0-40B6-9008-90A01AD57F20}" presName="desTx" presStyleLbl="revTx" presStyleIdx="0" presStyleCnt="1">
        <dgm:presLayoutVars>
          <dgm:bulletEnabled val="1"/>
        </dgm:presLayoutVars>
      </dgm:prSet>
      <dgm:spPr/>
    </dgm:pt>
  </dgm:ptLst>
  <dgm:cxnLst>
    <dgm:cxn modelId="{8CDF6205-75B4-4864-BE35-787AD2380B54}" srcId="{14E051F5-95C0-40B6-9008-90A01AD57F20}" destId="{44C40A15-0098-4C21-8526-86FAAB9CC63C}" srcOrd="1" destOrd="0" parTransId="{184348E6-F551-4EC4-AA5F-4AF1C92E7CFE}" sibTransId="{0C3450C9-E684-494E-94E6-3797F68A37AD}"/>
    <dgm:cxn modelId="{5ACC050A-943F-43C1-B732-2D04D992DBCC}" srcId="{14E051F5-95C0-40B6-9008-90A01AD57F20}" destId="{1C131114-14F0-4117-93D0-D0EB779FCC9F}" srcOrd="3" destOrd="0" parTransId="{E22819A4-6736-4CB9-B48F-EBB3F86699C5}" sibTransId="{0CF5C4F6-A76D-46FE-8242-36367FE6D559}"/>
    <dgm:cxn modelId="{43949424-ECFA-42E9-A621-95E51D0ACF1E}" type="presOf" srcId="{1C131114-14F0-4117-93D0-D0EB779FCC9F}" destId="{FBCCFAAC-7EB7-4A3B-9CF3-E905C40E2022}" srcOrd="0" destOrd="3" presId="urn:microsoft.com/office/officeart/2005/8/layout/chevron1"/>
    <dgm:cxn modelId="{9748422A-6EE5-4CBF-9577-16368C9E2C92}" srcId="{E6623ADC-730C-4142-8F09-BA2134B73072}" destId="{F046482D-41C6-4186-A406-9C261096145E}" srcOrd="0" destOrd="0" parTransId="{8D5916A2-B675-4ECD-A127-290CD68D562E}" sibTransId="{1A041D10-1C01-484B-818D-504C3E7CBAA1}"/>
    <dgm:cxn modelId="{776B912A-D6CE-4EDB-AE78-33D7E11596B5}" type="presOf" srcId="{546F098C-4D27-4E68-9BB6-E65E6C30E5CC}" destId="{F4C97A8B-E4F8-4C53-8808-F936BBBCDC5F}" srcOrd="0" destOrd="0" presId="urn:microsoft.com/office/officeart/2005/8/layout/chevron1"/>
    <dgm:cxn modelId="{51E8F031-8544-413D-BE68-F1DC34E4BB1A}" srcId="{E6623ADC-730C-4142-8F09-BA2134B73072}" destId="{14E051F5-95C0-40B6-9008-90A01AD57F20}" srcOrd="2" destOrd="0" parTransId="{EA33FD9E-57A3-45FE-A4EA-2CFE200B39A0}" sibTransId="{D286B7E0-032C-47A2-8159-714B79562830}"/>
    <dgm:cxn modelId="{0A8E5645-EBA9-4ED6-A3B4-2C61CBD75252}" type="presOf" srcId="{F046482D-41C6-4186-A406-9C261096145E}" destId="{36710048-3C7B-41CA-9ACA-2C415B3CD90B}" srcOrd="0" destOrd="0" presId="urn:microsoft.com/office/officeart/2005/8/layout/chevron1"/>
    <dgm:cxn modelId="{FDEE586D-4A40-4869-8D4F-AC0B061F92E4}" srcId="{E6623ADC-730C-4142-8F09-BA2134B73072}" destId="{546F098C-4D27-4E68-9BB6-E65E6C30E5CC}" srcOrd="1" destOrd="0" parTransId="{4AF38D6B-A36F-46DB-9AFA-2D907D63EE89}" sibTransId="{D6DB0A2B-806B-4BB5-806D-417F91F47676}"/>
    <dgm:cxn modelId="{84196370-10E4-4A66-8167-5BD7BEC41244}" type="presOf" srcId="{A796DA96-F161-4354-81B3-6609189EE406}" destId="{FBCCFAAC-7EB7-4A3B-9CF3-E905C40E2022}" srcOrd="0" destOrd="2" presId="urn:microsoft.com/office/officeart/2005/8/layout/chevron1"/>
    <dgm:cxn modelId="{4688BF89-7ECD-4DC2-A883-62E33387A9F4}" type="presOf" srcId="{44C40A15-0098-4C21-8526-86FAAB9CC63C}" destId="{FBCCFAAC-7EB7-4A3B-9CF3-E905C40E2022}" srcOrd="0" destOrd="1" presId="urn:microsoft.com/office/officeart/2005/8/layout/chevron1"/>
    <dgm:cxn modelId="{F96160AE-C89E-4D16-9107-E3C96257283D}" type="presOf" srcId="{E3A2EE33-DE25-441F-8344-83A7333EB577}" destId="{FBCCFAAC-7EB7-4A3B-9CF3-E905C40E2022}" srcOrd="0" destOrd="0" presId="urn:microsoft.com/office/officeart/2005/8/layout/chevron1"/>
    <dgm:cxn modelId="{B6C235B3-5FB2-49F5-9544-F91081C4A779}" type="presOf" srcId="{E6623ADC-730C-4142-8F09-BA2134B73072}" destId="{A2F33D44-9B4A-429B-B8EF-6DCA0CF54C49}" srcOrd="0" destOrd="0" presId="urn:microsoft.com/office/officeart/2005/8/layout/chevron1"/>
    <dgm:cxn modelId="{A8A741D3-CEC8-4119-87C7-88178C8CB959}" type="presOf" srcId="{14E051F5-95C0-40B6-9008-90A01AD57F20}" destId="{92B9E125-1181-42E6-9A11-914558566BDC}" srcOrd="0" destOrd="0" presId="urn:microsoft.com/office/officeart/2005/8/layout/chevron1"/>
    <dgm:cxn modelId="{84B1EAD4-CA29-44F6-9A3E-46ECF73A3A4B}" srcId="{14E051F5-95C0-40B6-9008-90A01AD57F20}" destId="{E3A2EE33-DE25-441F-8344-83A7333EB577}" srcOrd="0" destOrd="0" parTransId="{4DC52811-0159-4E5A-8B9F-F23D2B235F87}" sibTransId="{9A2176F0-0E62-4A35-992B-0BEAE475C06F}"/>
    <dgm:cxn modelId="{0D082DF0-03D0-434D-98CB-1D9676DE86EA}" srcId="{14E051F5-95C0-40B6-9008-90A01AD57F20}" destId="{A796DA96-F161-4354-81B3-6609189EE406}" srcOrd="2" destOrd="0" parTransId="{39839E8E-5E99-45CA-941D-0D4425989A86}" sibTransId="{5D169B23-E911-44DA-9FCE-1C3B6FFCF412}"/>
    <dgm:cxn modelId="{780C97F7-05C1-4165-9BBC-AC95B399701F}" type="presParOf" srcId="{A2F33D44-9B4A-429B-B8EF-6DCA0CF54C49}" destId="{6C16BEF2-D438-4CB0-A915-59AA59ED3045}" srcOrd="0" destOrd="0" presId="urn:microsoft.com/office/officeart/2005/8/layout/chevron1"/>
    <dgm:cxn modelId="{F956CF40-D302-44B4-A6DF-D860EA42F963}" type="presParOf" srcId="{6C16BEF2-D438-4CB0-A915-59AA59ED3045}" destId="{36710048-3C7B-41CA-9ACA-2C415B3CD90B}" srcOrd="0" destOrd="0" presId="urn:microsoft.com/office/officeart/2005/8/layout/chevron1"/>
    <dgm:cxn modelId="{86D498E2-2B76-4EFC-BB79-51D4D79928FE}" type="presParOf" srcId="{6C16BEF2-D438-4CB0-A915-59AA59ED3045}" destId="{99AA15D0-2573-4235-8A47-C37C2385FB38}" srcOrd="1" destOrd="0" presId="urn:microsoft.com/office/officeart/2005/8/layout/chevron1"/>
    <dgm:cxn modelId="{17BF7CDD-CE48-417B-A597-4B3F4505B450}" type="presParOf" srcId="{A2F33D44-9B4A-429B-B8EF-6DCA0CF54C49}" destId="{48B64D8B-BE27-4338-BE90-AE1A77CE49E7}" srcOrd="1" destOrd="0" presId="urn:microsoft.com/office/officeart/2005/8/layout/chevron1"/>
    <dgm:cxn modelId="{1078E116-A43D-48D4-8DE9-6A0FC4FC49FA}" type="presParOf" srcId="{A2F33D44-9B4A-429B-B8EF-6DCA0CF54C49}" destId="{89EF8610-BC4D-4627-BC03-FEAD16F56E6E}" srcOrd="2" destOrd="0" presId="urn:microsoft.com/office/officeart/2005/8/layout/chevron1"/>
    <dgm:cxn modelId="{1DDAB4FD-BA30-4253-9384-5E5A061F2E12}" type="presParOf" srcId="{89EF8610-BC4D-4627-BC03-FEAD16F56E6E}" destId="{F4C97A8B-E4F8-4C53-8808-F936BBBCDC5F}" srcOrd="0" destOrd="0" presId="urn:microsoft.com/office/officeart/2005/8/layout/chevron1"/>
    <dgm:cxn modelId="{29706998-0973-4535-A046-2FA5D174D83C}" type="presParOf" srcId="{89EF8610-BC4D-4627-BC03-FEAD16F56E6E}" destId="{A3701F3E-F625-4FF5-9E1E-334C963DA6AC}" srcOrd="1" destOrd="0" presId="urn:microsoft.com/office/officeart/2005/8/layout/chevron1"/>
    <dgm:cxn modelId="{2029687B-D104-4100-8E54-F898AC89BEE3}" type="presParOf" srcId="{A2F33D44-9B4A-429B-B8EF-6DCA0CF54C49}" destId="{7EAA8DA1-A190-4439-BFB7-EC82A5C62838}" srcOrd="3" destOrd="0" presId="urn:microsoft.com/office/officeart/2005/8/layout/chevron1"/>
    <dgm:cxn modelId="{2273BD1D-1724-479F-852D-FAA93E03F77D}" type="presParOf" srcId="{A2F33D44-9B4A-429B-B8EF-6DCA0CF54C49}" destId="{3419B176-8B5D-4EFF-A2FA-55EE13A16255}" srcOrd="4" destOrd="0" presId="urn:microsoft.com/office/officeart/2005/8/layout/chevron1"/>
    <dgm:cxn modelId="{5F4FC448-994B-49A0-A61B-C5ED9D7D8857}" type="presParOf" srcId="{3419B176-8B5D-4EFF-A2FA-55EE13A16255}" destId="{92B9E125-1181-42E6-9A11-914558566BDC}" srcOrd="0" destOrd="0" presId="urn:microsoft.com/office/officeart/2005/8/layout/chevron1"/>
    <dgm:cxn modelId="{FBBCD71F-8FF9-49F0-85CD-5FBE2A622A3B}" type="presParOf" srcId="{3419B176-8B5D-4EFF-A2FA-55EE13A16255}" destId="{FBCCFAAC-7EB7-4A3B-9CF3-E905C40E202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10048-3C7B-41CA-9ACA-2C415B3CD90B}">
      <dsp:nvSpPr>
        <dsp:cNvPr id="0" name=""/>
        <dsp:cNvSpPr/>
      </dsp:nvSpPr>
      <dsp:spPr>
        <a:xfrm>
          <a:off x="5233" y="179702"/>
          <a:ext cx="3783120" cy="1080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Model is trained on an 80:20 train-test split of RAVDESS dataset. </a:t>
          </a:r>
          <a:endParaRPr lang="en-US" sz="2000" kern="1200" dirty="0"/>
        </a:p>
      </dsp:txBody>
      <dsp:txXfrm>
        <a:off x="545233" y="179702"/>
        <a:ext cx="2703120" cy="1080000"/>
      </dsp:txXfrm>
    </dsp:sp>
    <dsp:sp modelId="{F4C97A8B-E4F8-4C53-8808-F936BBBCDC5F}">
      <dsp:nvSpPr>
        <dsp:cNvPr id="0" name=""/>
        <dsp:cNvSpPr/>
      </dsp:nvSpPr>
      <dsp:spPr>
        <a:xfrm>
          <a:off x="3572354" y="179702"/>
          <a:ext cx="3783120" cy="1080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/>
            <a:t>Used MSE as loss function, Adam optimizer and learning rate is set to 1e-3</a:t>
          </a:r>
          <a:r>
            <a:rPr lang="en-GB" sz="1400" kern="1200"/>
            <a:t>.</a:t>
          </a:r>
          <a:endParaRPr lang="en-US" sz="1400" kern="1200" dirty="0"/>
        </a:p>
      </dsp:txBody>
      <dsp:txXfrm>
        <a:off x="4112354" y="179702"/>
        <a:ext cx="2703120" cy="1080000"/>
      </dsp:txXfrm>
    </dsp:sp>
    <dsp:sp modelId="{92B9E125-1181-42E6-9A11-914558566BDC}">
      <dsp:nvSpPr>
        <dsp:cNvPr id="0" name=""/>
        <dsp:cNvSpPr/>
      </dsp:nvSpPr>
      <dsp:spPr>
        <a:xfrm>
          <a:off x="7139474" y="179702"/>
          <a:ext cx="3783120" cy="1080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/>
            <a:t>Further tested on following datasets – </a:t>
          </a:r>
          <a:endParaRPr lang="en-US" sz="2000" kern="1200"/>
        </a:p>
      </dsp:txBody>
      <dsp:txXfrm>
        <a:off x="7679474" y="179702"/>
        <a:ext cx="2703120" cy="1080000"/>
      </dsp:txXfrm>
    </dsp:sp>
    <dsp:sp modelId="{FBCCFAAC-7EB7-4A3B-9CF3-E905C40E2022}">
      <dsp:nvSpPr>
        <dsp:cNvPr id="0" name=""/>
        <dsp:cNvSpPr/>
      </dsp:nvSpPr>
      <dsp:spPr>
        <a:xfrm>
          <a:off x="7139474" y="1394702"/>
          <a:ext cx="3026496" cy="21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CREMA-D ( English )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EmoDB ( German)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TESS ( English)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IESC ( Hindi ) ( Indian Emotional Speech Corpora) (</a:t>
          </a:r>
          <a:r>
            <a:rPr lang="en-GB" sz="2000" b="1" kern="1200" dirty="0"/>
            <a:t>Not in the paper</a:t>
          </a:r>
          <a:r>
            <a:rPr lang="en-GB" sz="2000" kern="1200" dirty="0"/>
            <a:t>) </a:t>
          </a:r>
          <a:endParaRPr lang="en-US" sz="2000" kern="1200" dirty="0"/>
        </a:p>
      </dsp:txBody>
      <dsp:txXfrm>
        <a:off x="7139474" y="1394702"/>
        <a:ext cx="3026496" cy="211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ECCC6-7EBF-430F-B79F-7FD4319C350B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405FC-FA9D-4360-9046-5B8367AD7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4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405FC-FA9D-4360-9046-5B8367AD7C2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7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E863-4E86-39E7-3EB4-0F6910075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F31EF-369F-7F4B-BFB7-34497C7D0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5695-3E84-EE0F-F59B-F0B438F8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4F73-C391-7EA7-2B93-7A8AB6AE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9B73C-A5B9-8D0A-B414-EC332D20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9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83EA-45B7-E2DE-578E-DDBEEA0E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8CB4C-656D-D0CA-A4D0-ACD7E830C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F46B-DE41-638A-9BC5-740E0E62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A9BF2-5B33-3762-689C-86D87FF9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A729-0F1A-6C94-0293-E4A7430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7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CCCB-4479-1959-2C68-427C4656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8F039-E547-5C7F-3EE1-72B9AC39A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BF03-8B18-8C87-7036-9287B567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AA26C-50CB-6429-A8E0-8A52190B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0584-6FA9-9E1F-2D2A-2ECD7E97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33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77C4-6897-E4DD-9E0D-31CB22C5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BA04-7726-9408-8071-B584D1224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BDE86-7187-070D-1F54-5353BCA0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A2945-48B6-A4DD-3AB2-A7EF2F21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546BC-C6DC-1D99-4EEC-69F2DBA7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B69-7E43-4EC0-A144-BE57B8D2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71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E3F5-1A25-5466-30E6-F67DC816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19070-5824-F77B-2F11-18A106C0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946A1-A42F-00A0-E038-694A172A7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EE1D8-3B58-9E82-9F69-46123D454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1B1A-741A-DAF4-8336-C2AFD2DFC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86839-2B63-0E18-B794-FD9D7DC0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3ADAF-4B0D-616D-8344-A71F17D8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8913B-77EC-6267-D667-8D611C19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4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07C4-276F-C09A-9524-EDBEE772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01BD0-2FCC-299E-D5F1-486B0A99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2399F-B2BC-04E4-4C66-9C6C5969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05276-36C0-FFBF-C46F-EC93998E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13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540DC-4463-DD79-86CF-C0477C6E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32DCB-706C-1DBB-FE3D-4447545D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36225-9DEE-46A2-D009-A6AE51E3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8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F089-926D-B968-969F-E8E8347E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408B-F136-C133-49AE-E2594258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D6622-0477-F0E5-46E0-0DDEB4AF9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C94F1-705D-99BB-8296-59EDAD23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3453F-E193-4C9A-BA6F-A3863998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CC855-C03F-A057-8521-702E0A72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23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1BB-C433-B12B-6AED-F765F8C6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085C8-8E6C-AC1E-6C0D-105C3E3BA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59346-65CE-FBC7-256A-4D4F42C5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F5603-8E2D-A465-16F7-8193600B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D5631-EC37-630C-A023-F902D36E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CCB12-482E-6094-A758-DBFD1BA9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7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186B-30E0-FE84-819A-6D26EA67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EDCB5-CEA6-B69B-F069-11F9F1CC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F94B-C8ED-6C8B-8AF1-7F656CE8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E8EB-F579-FFF3-09E0-20F6C052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95FA0-AB86-C1E2-51C3-05BBE588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4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E6736-3E3D-E95C-2ADE-F81F584D9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1E9ED-6518-9250-69CC-01E897283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DC27D-939A-CB84-AB43-DB78F7F6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5DC7-07ED-1695-8111-551B746A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09C4-90BF-2833-0503-616B27A5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99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6F560-ED91-A093-72DA-335EA4F5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EEACF-FF74-644C-BE90-0D60D7DC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63AB-121F-CCC7-D357-A52145C6F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702A9-747D-40EE-94C6-B1D29AA431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13B6E-109E-A764-11D6-4E37107A1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654F7-8A8B-E607-9DD8-E1AF7B83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2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D4ABE-E2A4-6287-9233-17600E49F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9" y="779655"/>
            <a:ext cx="7443020" cy="3644861"/>
          </a:xfrm>
        </p:spPr>
        <p:txBody>
          <a:bodyPr>
            <a:normAutofit fontScale="90000"/>
          </a:bodyPr>
          <a:lstStyle/>
          <a:p>
            <a:pPr algn="l"/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4800" dirty="0">
                <a:solidFill>
                  <a:srgbClr val="FFFFFF"/>
                </a:solidFill>
              </a:rPr>
              <a:t>DepreechX </a:t>
            </a:r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4800" dirty="0">
                <a:solidFill>
                  <a:srgbClr val="FFFFFF"/>
                </a:solidFill>
              </a:rPr>
              <a:t>A Mechanism for Screening Patients Vulnerable to Depression using Speech</a:t>
            </a:r>
            <a:br>
              <a:rPr lang="en-GB" sz="3200" dirty="0">
                <a:solidFill>
                  <a:srgbClr val="FFFFFF"/>
                </a:solidFill>
              </a:rPr>
            </a:br>
            <a:r>
              <a:rPr lang="en-GB" sz="3200" dirty="0">
                <a:solidFill>
                  <a:srgbClr val="FFFFFF"/>
                </a:solidFill>
              </a:rPr>
              <a:t>24-07-25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1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E06E9-C25B-F7C2-54A0-CCE61C5B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Paper : Enhanced speech emotion recognition using averaged valence arousal dominance mapping and deep neural networks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10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FA19A-730E-0E49-190E-B4A4363A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D52D-474E-3169-D253-DD5BD0693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A3296-C43F-1B0F-904B-54C077BB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98" y="2025571"/>
            <a:ext cx="10525213" cy="3262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37DF1C-E05D-3C33-DA7B-C589B760AC87}"/>
              </a:ext>
            </a:extLst>
          </p:cNvPr>
          <p:cNvSpPr txBox="1"/>
          <p:nvPr/>
        </p:nvSpPr>
        <p:spPr>
          <a:xfrm>
            <a:off x="810228" y="5532699"/>
            <a:ext cx="1050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Wav2Vec2 feature extractor process the audio in chunk of 25ms and that is fed into wav2Vec2 to generate embedding of size 1024 for each chunk.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83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02485-9F3A-2559-9CDF-32735966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Model Training and Testing 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768B1B-48C8-25BE-7EA1-9E57CB347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0711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6826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492E4-7705-0CC1-2BD8-6A56E6EB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Ground Truth Valence, Arousal and Dominance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70641-DB1E-6B94-3539-544781B92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3061" y="542953"/>
            <a:ext cx="7225748" cy="40283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CBF261-922F-05AC-CD44-C4D5D8B2CCD2}"/>
              </a:ext>
            </a:extLst>
          </p:cNvPr>
          <p:cNvSpPr txBox="1"/>
          <p:nvPr/>
        </p:nvSpPr>
        <p:spPr>
          <a:xfrm>
            <a:off x="4542503" y="4886632"/>
            <a:ext cx="7285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by averaging the results of three pre-trained VAD networks on the RAVDESS dataset – </a:t>
            </a:r>
          </a:p>
          <a:p>
            <a:r>
              <a:rPr lang="en-GB" dirty="0"/>
              <a:t>1) Wav2Vec2.0-L-Robust-12 on MSP Podcast Corpus</a:t>
            </a:r>
          </a:p>
          <a:p>
            <a:r>
              <a:rPr lang="en-GB" dirty="0"/>
              <a:t>2) LSTM model with 3 layers (512, 256, 128) on Quechua Collao Corpus</a:t>
            </a:r>
          </a:p>
          <a:p>
            <a:r>
              <a:rPr lang="en-GB" dirty="0"/>
              <a:t>3) CNN model with 3 layers (512, 256, 128) on Quechua Collao Corpus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70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F3C11-F8E0-965D-EA73-4BF568E7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ADAD91E-6FFF-7C63-30CF-40A61D512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5045CA-1B64-5E3E-08D6-E65DD9883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2D563E-4D20-599D-84FD-82D066EFB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75626B-99EC-5EBE-2423-5DC637228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AA2D3-1636-0CF3-AA9C-10D71051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Accuracy Results Comparison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2E8A45E-A939-D312-BD79-7FCDE4D1B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379124"/>
              </p:ext>
            </p:extLst>
          </p:nvPr>
        </p:nvGraphicFramePr>
        <p:xfrm>
          <a:off x="226142" y="1799144"/>
          <a:ext cx="11505147" cy="491628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0287">
                  <a:extLst>
                    <a:ext uri="{9D8B030D-6E8A-4147-A177-3AD203B41FA5}">
                      <a16:colId xmlns:a16="http://schemas.microsoft.com/office/drawing/2014/main" val="1494232672"/>
                    </a:ext>
                  </a:extLst>
                </a:gridCol>
                <a:gridCol w="1012715">
                  <a:extLst>
                    <a:ext uri="{9D8B030D-6E8A-4147-A177-3AD203B41FA5}">
                      <a16:colId xmlns:a16="http://schemas.microsoft.com/office/drawing/2014/main" val="5742136"/>
                    </a:ext>
                  </a:extLst>
                </a:gridCol>
                <a:gridCol w="1825540">
                  <a:extLst>
                    <a:ext uri="{9D8B030D-6E8A-4147-A177-3AD203B41FA5}">
                      <a16:colId xmlns:a16="http://schemas.microsoft.com/office/drawing/2014/main" val="252188827"/>
                    </a:ext>
                  </a:extLst>
                </a:gridCol>
                <a:gridCol w="1966451">
                  <a:extLst>
                    <a:ext uri="{9D8B030D-6E8A-4147-A177-3AD203B41FA5}">
                      <a16:colId xmlns:a16="http://schemas.microsoft.com/office/drawing/2014/main" val="3688473197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81396343"/>
                    </a:ext>
                  </a:extLst>
                </a:gridCol>
                <a:gridCol w="1602658">
                  <a:extLst>
                    <a:ext uri="{9D8B030D-6E8A-4147-A177-3AD203B41FA5}">
                      <a16:colId xmlns:a16="http://schemas.microsoft.com/office/drawing/2014/main" val="2002013499"/>
                    </a:ext>
                  </a:extLst>
                </a:gridCol>
                <a:gridCol w="1810541">
                  <a:extLst>
                    <a:ext uri="{9D8B030D-6E8A-4147-A177-3AD203B41FA5}">
                      <a16:colId xmlns:a16="http://schemas.microsoft.com/office/drawing/2014/main" val="130614878"/>
                    </a:ext>
                  </a:extLst>
                </a:gridCol>
              </a:tblGrid>
              <a:tr h="956011"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Dataset 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Accuracy %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(paper)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Accuracy %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 VAD 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1NN / 2NN / 3NN ) 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Accuracy %</a:t>
                      </a:r>
                      <a:b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(VAD 1NN / 2NN / 3NN) </a:t>
                      </a:r>
                      <a:b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w/ Huber Loss Function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Accuracy %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(Testing w/ batch size 32)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(VAD 1NN)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Accuracy %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(emotion)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Avg. Euclidean Dist.</a:t>
                      </a:r>
                    </a:p>
                    <a:p>
                      <a:pPr algn="ctr"/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 (VAD-1NN / paper)</a:t>
                      </a:r>
                      <a:endParaRPr lang="en-IN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98773" marR="75979" marT="75979" marB="75979" anchor="ctr"/>
                </a:tc>
                <a:extLst>
                  <a:ext uri="{0D108BD9-81ED-4DB2-BD59-A6C34878D82A}">
                    <a16:rowId xmlns:a16="http://schemas.microsoft.com/office/drawing/2014/main" val="3312941652"/>
                  </a:ext>
                </a:extLst>
              </a:tr>
              <a:tr h="792055"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RAVDESS 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rgbClr val="FF0000"/>
                          </a:solidFill>
                        </a:rPr>
                        <a:t>93.98 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94.67 / 96.00 / 98.33</a:t>
                      </a:r>
                      <a:endParaRPr lang="en-GB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GB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92.89 / 95.70 / 98.25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94.67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95.33 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GB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0.0452 / 0.0469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extLst>
                  <a:ext uri="{0D108BD9-81ED-4DB2-BD59-A6C34878D82A}">
                    <a16:rowId xmlns:a16="http://schemas.microsoft.com/office/drawing/2014/main" val="3868492426"/>
                  </a:ext>
                </a:extLst>
              </a:tr>
              <a:tr h="792055"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CREMA-D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rgbClr val="FF0000"/>
                          </a:solidFill>
                        </a:rPr>
                        <a:t>77.00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43.72 / 62.23 / 76.83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45.19 / 61.88 / 76.03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40.97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36.35</a:t>
                      </a: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0.2986 / 0.1360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extLst>
                  <a:ext uri="{0D108BD9-81ED-4DB2-BD59-A6C34878D82A}">
                    <a16:rowId xmlns:a16="http://schemas.microsoft.com/office/drawing/2014/main" val="3577784434"/>
                  </a:ext>
                </a:extLst>
              </a:tr>
              <a:tr h="792055"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EMODB 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rgbClr val="FF0000"/>
                          </a:solidFill>
                        </a:rPr>
                        <a:t>86.34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65.79/ 76.26 / 87.48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62.24 / 74.02 / 85.98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61.68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61.12</a:t>
                      </a: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0.1712 / 0.0980</a:t>
                      </a:r>
                    </a:p>
                  </a:txBody>
                  <a:tcPr marL="98773" marR="75979" marT="75979" marB="75979"/>
                </a:tc>
                <a:extLst>
                  <a:ext uri="{0D108BD9-81ED-4DB2-BD59-A6C34878D82A}">
                    <a16:rowId xmlns:a16="http://schemas.microsoft.com/office/drawing/2014/main" val="257874698"/>
                  </a:ext>
                </a:extLst>
              </a:tr>
              <a:tr h="792055"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TESS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rgbClr val="FF0000"/>
                          </a:solidFill>
                        </a:rPr>
                        <a:t>85.52</a:t>
                      </a: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46.64 / 59.89 / 67.04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43.39 / 53.18 / 68.32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46.29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42.79</a:t>
                      </a: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0.2234 /  0.0870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extLst>
                  <a:ext uri="{0D108BD9-81ED-4DB2-BD59-A6C34878D82A}">
                    <a16:rowId xmlns:a16="http://schemas.microsoft.com/office/drawing/2014/main" val="1938009938"/>
                  </a:ext>
                </a:extLst>
              </a:tr>
              <a:tr h="792055">
                <a:tc>
                  <a:txBody>
                    <a:bodyPr/>
                    <a:lstStyle/>
                    <a:p>
                      <a:pPr algn="ctr"/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IESC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_____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41.17 / 50.33 / 69.67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39.83 / 48.83 / 68.67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39.67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31.83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0.3383 / ______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8773" marR="75979" marT="75979" marB="75979"/>
                </a:tc>
                <a:extLst>
                  <a:ext uri="{0D108BD9-81ED-4DB2-BD59-A6C34878D82A}">
                    <a16:rowId xmlns:a16="http://schemas.microsoft.com/office/drawing/2014/main" val="2329044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80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C6EAB-67D5-21A7-6242-A91C54F7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6F256-FA40-18A8-40AB-05AEA92B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Accuracy Results on RAVDESS with Huber Loss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92A6F8-CBA5-8214-7224-D6F6F2AE8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519" y="1690578"/>
            <a:ext cx="5001634" cy="4454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4BF316-5119-6FAE-58E9-F22E936A3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73" y="1705347"/>
            <a:ext cx="5006299" cy="441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7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0185C-B5E0-D435-FACD-C0049642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6D0A83-E0C2-D720-3448-234708BB6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EDA27-8B95-01AD-D4E2-018F5AF14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93E512-2AC1-E687-4D63-D2F937277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D70106-B00E-BE91-E4EF-CA33D1A9B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03F48AD-668F-39F2-757D-E2DC165EC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484E3-33E5-C7EF-5F8F-858A037C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RAVDESS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(Top-3NN-Accuracy)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w/ Huber Loss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255A88-FAB2-0A5F-82C3-7DB6ED4DB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8858" y="420516"/>
            <a:ext cx="6398489" cy="581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7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857DB-ECB2-2B5D-48AB-E83DCC51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F6E56A-3CEC-D8CE-A8D2-919C6C6E1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477CB7-FC58-67C3-317C-0282C48C6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4E8C6E-8D32-E1C5-9FB6-3F8CD8FD9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6E61C8-4D8D-86E0-1B4F-9A07FEC5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7D4E11-DEF5-76D9-5D83-A5C59AEC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1E938-CD80-1D20-DC45-EAD1C55C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Results on EmoDB (7 emotions) Dataset with Huber Loss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71FF90-495C-E8CA-BABB-D8EEF99B8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360" y="1786296"/>
            <a:ext cx="5077604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7407C0-DA8C-293E-1B2D-36EA55C44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45" y="1790336"/>
            <a:ext cx="4802136" cy="433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7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82F89-2814-C7D4-F306-268C4CC1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96252E-6B3C-5571-B72C-B5C49A46D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581D21-C515-5DAF-CABD-B1CE25880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8A1BE-4D59-6952-EB90-595F2D5FD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B37CE0-82AC-0EF9-BC55-5B861052A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0EE69B-8E1C-747C-802E-0FD5E3EA1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D79B9-4896-9DA2-A4C9-DABC4974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Emo</a:t>
            </a:r>
            <a:r>
              <a:rPr lang="en-US" sz="4000" dirty="0">
                <a:solidFill>
                  <a:srgbClr val="FFFFFF"/>
                </a:solidFill>
              </a:rPr>
              <a:t>DB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(Top-3NN-Accuracy)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w/ Huber Loss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C32AAB-80C1-03B1-6BF3-3D5BE7120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1272" y="570982"/>
            <a:ext cx="6509872" cy="54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7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64287-0F60-7DD6-97AE-23715ACE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7C351C-9A94-82FD-3CED-569BEB3E0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80316D-CF9B-908B-75C0-7A843D2AE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F7DDD-7238-488A-175A-7660866C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C845C3-9E10-5C4E-9BF8-BD491A058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6B6762-2EE5-ECA0-69EA-2534B970F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2B53D-D403-2157-AAD5-0B587D3D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Results on CREMA-D (6 emotions) Dataset w/ Huber Loss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EAD5C7-3A4B-3172-254F-C07900B9D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598" y="1749655"/>
            <a:ext cx="5017514" cy="4491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6671CB-4D8D-531B-E4F5-EA327FE9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127" y="1764154"/>
            <a:ext cx="5112385" cy="44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5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0F2C0-48B0-FD12-07C8-D02EABEE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DC415E9-5EB5-F3A1-668B-6A241E643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E15E37-92FB-6B55-E1EE-6B9CFD887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C80464-890A-1AD5-574B-21365E922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9DD3AA-2DF4-4F4D-8D08-8EF22B7C4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A64CA7E-5F40-BE12-7D36-2945D7D7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955F1-3758-DA32-CA33-52C20F64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CREMA-D Dataset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with Huber Loss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121A0-98C0-0C2E-F671-9D8258B3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762" y="492627"/>
            <a:ext cx="6167521" cy="55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3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36FDD-F367-104A-FCA5-04562359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923391A-96E0-E4AF-DCCF-1636CBF47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A911E8-A1CC-653A-1400-2F7C9F448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8BD503-6F5C-B93D-EC68-1F1A9039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65E987-7B51-B427-E5D2-328194805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0B518B-49CA-5D2D-1810-24BDC23D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1E026-4D72-023D-2A89-BEA12D50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TESS Dataset (7 emotions) with Huber Loss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584EAA-A3AF-A8FC-E3CE-744E3A496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5943" y="1764665"/>
            <a:ext cx="4872753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E12888-68AD-31DA-2A46-D1CAAFC9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67" y="1749533"/>
            <a:ext cx="4935794" cy="43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7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ADA36-785B-5367-EEA2-90C8F206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44821D5-4A4A-267A-F37E-BFDC79E4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95F2C9-5206-8BA8-0666-9C1B4FE5B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6140C4-90F7-DDB2-5300-5C1627E11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E7948F-4A5D-4856-E3B5-D1D1EF132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2F81C52-A0C2-AE68-8F7E-C6582AC10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4EA17-23FC-63E3-F542-AB36F990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TESS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 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 with Huber Loss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5ACC4-9473-5361-289E-AB03F9CFC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800" y="670346"/>
            <a:ext cx="6251121" cy="556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2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D44AE-9ECB-25C7-8A0E-CD128C8C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29B3301-3E83-3D41-C914-00CA990C2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2BB5C5-0DCF-DB11-A806-1A5779003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CB0909-72C4-C68F-C67A-C83BB8F9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266F0B-4461-10EB-4D19-4C8AD9D0D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55C39A-A9C9-8FB6-BE61-0F39DC27A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1954E-C491-62A4-95FD-727C2CC0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Results on IESC Dataset ( 5 emotions ) with Huber Loss Function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78DE105-446F-DFAC-B3DB-8E119794D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228" y="1844646"/>
            <a:ext cx="4993390" cy="44160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F8DEBC-2DF1-6C86-18BB-A51CDC4D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17" y="1847660"/>
            <a:ext cx="5098222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74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225E8-EB90-6727-3614-63249C7A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2B5EB12-47E6-552E-043A-D2F9E744E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196A5E-A64E-4489-F734-FA929CDFE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03C948-DC71-1A28-1DDA-18DC7BCDB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1A2381-7E39-390F-FFC2-99AD95FC8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3386AFD-CFE2-A786-E1DC-0502DAAE0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BF611-F249-30D6-FD94-D4805F28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IESC Dataset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 with Huber Loss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BA45E1-304A-8D2D-38AB-81417451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342" y="436808"/>
            <a:ext cx="6416253" cy="573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5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53B60-16A9-3292-B1B4-D96FB237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8E87B1A-B155-C123-2576-D2604A532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E8CAEB-5934-0B92-6B3F-73297808E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A23486-CE38-B13A-EC09-259A9F614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3F862F-47B4-473B-D015-A044E581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F9B52B-41BE-8C72-294C-78AD04CB9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A95D6-B424-0917-479F-B716BD75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Accuracy Results on RAVDESS ( 8 emotions )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BDC1B7B-543D-9864-0729-60456EAB8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341" y="1708179"/>
            <a:ext cx="5068359" cy="4351338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D0D608-1EA0-2DB7-DC45-F185A226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31" y="1686187"/>
            <a:ext cx="5287021" cy="438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3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88146-CD19-079B-148F-1B10E663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RAVDESS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(Top-3NN-Accuracy)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7B5DE4-62C0-B0AD-4EBA-D8A0A76A9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3061" y="435471"/>
            <a:ext cx="6315777" cy="5554191"/>
          </a:xfrm>
        </p:spPr>
      </p:pic>
    </p:spTree>
    <p:extLst>
      <p:ext uri="{BB962C8B-B14F-4D97-AF65-F5344CB8AC3E}">
        <p14:creationId xmlns:p14="http://schemas.microsoft.com/office/powerpoint/2010/main" val="3473209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B8522-296E-5362-90C9-A1D34BE6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Results on EmoDB Dataset ( 7 emotions 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F3133D-2587-E3FA-B10C-05447DBC0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417" y="1803311"/>
            <a:ext cx="4907928" cy="4278707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C19D91-8D62-0534-FFC5-98A99EA6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12" y="1775783"/>
            <a:ext cx="5008227" cy="428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62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0E7A2-6806-4814-2E67-AB7B0DD8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D554DD1-44ED-A0A0-6D7C-446FB80B1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DD75BA-FF4B-61DB-3F17-1AAC1B012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18BAF9-0494-57B0-42F4-380561A8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0A32C3-1D35-FFEB-89F8-7AEB33740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DA3F86-DF36-1FE1-4B92-FF8F8C268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4A2BA-2E09-CB93-48A7-7105159D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Emo</a:t>
            </a:r>
            <a:r>
              <a:rPr lang="en-US" sz="4000" dirty="0">
                <a:solidFill>
                  <a:srgbClr val="FFFFFF"/>
                </a:solidFill>
              </a:rPr>
              <a:t>DB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(Top-3NN-Accuracy)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A5656D-3B61-8C20-F943-243636CCF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1335" y="399496"/>
            <a:ext cx="6225414" cy="5650024"/>
          </a:xfrm>
        </p:spPr>
      </p:pic>
    </p:spTree>
    <p:extLst>
      <p:ext uri="{BB962C8B-B14F-4D97-AF65-F5344CB8AC3E}">
        <p14:creationId xmlns:p14="http://schemas.microsoft.com/office/powerpoint/2010/main" val="4093658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1635E-840D-7B79-69B3-CF7A5EFB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81D2668-9D55-7FF1-4CC3-8ED536B43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9B238-80E5-BAEB-D1B5-14AEECC86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52452-FDEE-6038-CC53-B15639F0E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C05E3-95E3-E2A6-A68C-BD2CB98D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1164BA-F1C7-5519-F87F-8DBBC4BA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1182A-03D0-80E7-C61F-F6A65BA4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Results on CREMA-D Dataset ( 6 emotions 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6115DA-878F-7053-3016-B866B8A87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75" y="1834014"/>
            <a:ext cx="5188133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AAC86E-E202-DDBD-E575-6458D75B6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79" y="1820411"/>
            <a:ext cx="5063012" cy="434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95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234B9-5865-B1D4-0423-65324C7B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0CAFC-E8AD-2811-9D53-1CB1EF5E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CREMA-D Dataset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E0276-7DEF-9B56-B94D-601C5B41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902" y="264160"/>
            <a:ext cx="6676763" cy="582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0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165B2-B179-F699-A1AE-6B1B5626E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6ACC2-1AB5-4DC2-F5C6-F4860309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Results on IESC Dataset ( 5 emotions )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F455B89-A7F4-2B8D-05B9-1E67482F1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556" y="1717039"/>
            <a:ext cx="4981487" cy="4287203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3C0FC-674A-AAC9-0D36-87F2D8CF7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40" y="1672611"/>
            <a:ext cx="4837700" cy="43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66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22242-6769-2B02-7FE1-E6F3EF43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2D02F-7225-EBA2-DCDD-CDFD1C1F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IESC Dataset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6A52BF-BD6E-60EE-23B0-34289383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314" y="322333"/>
            <a:ext cx="6584251" cy="56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02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38079-2FD3-320A-868B-B349BD7A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F1A849E-7573-E4F0-30E5-12754658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B71591-D53D-CC99-8D79-CE3326FFB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DA9E88-4020-E21B-3526-506D0E7E8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5ABA6E-D97C-2B9D-2AF6-5953E193A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53432A-EE93-0AA0-EE60-D303C2B97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65490-C0C1-A6A5-65BA-ECF5B7AC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TESS Dataset (7 emotions)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D86BF0-CF6A-5CA7-24D0-ED4F0EFE3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628" y="1634617"/>
            <a:ext cx="5295912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945AC-8A0C-82AC-5F68-7B8E5A8B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722832"/>
            <a:ext cx="5008880" cy="438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66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12D73-3157-FD66-5D42-A8E6268A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D5EA640-847A-9A15-0A16-0594D36A9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4F7D60-7236-BCBF-79FC-39D47C5CC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598999-D028-EFB6-D09C-331D3A7DC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3277CD-F3FD-2002-2C3E-12626C1EA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42C4FFD-9BA4-AA09-7D7B-5D123FB05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F3941-9D28-AFBB-DD9D-105D6F90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TESS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 Top-3NN- Accuracy)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50433-EB10-8DD1-95BE-98E0E53A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46" y="552219"/>
            <a:ext cx="6088908" cy="532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5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7C1A7-44EF-55B9-5C72-A261FAAC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8A33F3-B19D-56B7-D8A5-8E162A63E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CD873-B89E-E9D6-6B7C-1B1ECD098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AFFDE-1E78-7935-9428-9D0E59519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3F7FB3-E20D-9B69-39E5-B98EF027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1359A-FD24-7BF3-2FA8-CC742700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3700" dirty="0">
                <a:solidFill>
                  <a:srgbClr val="FFFFFF"/>
                </a:solidFill>
              </a:rPr>
              <a:t>Accuracy Results (o/p head predicting emotion)</a:t>
            </a:r>
            <a:endParaRPr lang="en-IN" sz="3700" dirty="0">
              <a:solidFill>
                <a:srgbClr val="FFFFFF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FDB7CB9-8899-2DC1-6F07-9BE8886A9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791255"/>
              </p:ext>
            </p:extLst>
          </p:nvPr>
        </p:nvGraphicFramePr>
        <p:xfrm>
          <a:off x="4118994" y="1820411"/>
          <a:ext cx="4253219" cy="429349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589152">
                  <a:extLst>
                    <a:ext uri="{9D8B030D-6E8A-4147-A177-3AD203B41FA5}">
                      <a16:colId xmlns:a16="http://schemas.microsoft.com/office/drawing/2014/main" val="1494232672"/>
                    </a:ext>
                  </a:extLst>
                </a:gridCol>
                <a:gridCol w="2664067">
                  <a:extLst>
                    <a:ext uri="{9D8B030D-6E8A-4147-A177-3AD203B41FA5}">
                      <a16:colId xmlns:a16="http://schemas.microsoft.com/office/drawing/2014/main" val="5742136"/>
                    </a:ext>
                  </a:extLst>
                </a:gridCol>
              </a:tblGrid>
              <a:tr h="591676">
                <a:tc>
                  <a:txBody>
                    <a:bodyPr/>
                    <a:lstStyle/>
                    <a:p>
                      <a:r>
                        <a:rPr lang="en-GB" sz="2300" b="0" cap="none" spc="0" dirty="0">
                          <a:solidFill>
                            <a:schemeClr val="bg1"/>
                          </a:solidFill>
                        </a:rPr>
                        <a:t>Dataset </a:t>
                      </a:r>
                      <a:endParaRPr lang="en-IN" sz="2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91924" marR="147634" marT="147634" marB="1476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b="0" cap="none" spc="0" dirty="0">
                          <a:solidFill>
                            <a:schemeClr val="bg1"/>
                          </a:solidFill>
                        </a:rPr>
                        <a:t>Accuracy (my) %</a:t>
                      </a:r>
                      <a:endParaRPr lang="en-IN" sz="2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91924" marR="147634" marT="147634" marB="1476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41652"/>
                  </a:ext>
                </a:extLst>
              </a:tr>
              <a:tr h="855173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RAVDESS </a:t>
                      </a:r>
                      <a:endParaRPr lang="en-IN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95.33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492426"/>
                  </a:ext>
                </a:extLst>
              </a:tr>
              <a:tr h="855173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CREMA-D</a:t>
                      </a:r>
                      <a:endParaRPr lang="en-IN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36.35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84434"/>
                  </a:ext>
                </a:extLst>
              </a:tr>
              <a:tr h="591676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IESC </a:t>
                      </a:r>
                      <a:endParaRPr lang="en-IN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 31.83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698"/>
                  </a:ext>
                </a:extLst>
              </a:tr>
              <a:tr h="591676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TESS</a:t>
                      </a:r>
                      <a:endParaRPr lang="en-IN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 42.79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09938"/>
                  </a:ext>
                </a:extLst>
              </a:tr>
              <a:tr h="591676"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EMODB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cap="none" spc="0" dirty="0">
                          <a:solidFill>
                            <a:schemeClr val="tx1"/>
                          </a:solidFill>
                        </a:rPr>
                        <a:t> 61.12</a:t>
                      </a:r>
                      <a:endParaRPr lang="en-IN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91924" marR="147634" marT="147634" marB="1476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044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031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5A340-C27A-F40F-BB6F-E068CCC9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9A07CCE-147D-3038-193D-83AD94B88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40C8B-BF0D-6125-2CCE-CA59A719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A79F6C-EE61-2328-E6E5-06094D0B4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0190A5-B6FF-7715-C74D-D87D600CA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3AD1B1-2751-1A7E-116F-BD4CD2BD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145C8-86B3-2D13-34CE-9C423CCD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8210606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Accuracy on RAVDESS Dataset (95.33%)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5CBA0B-74F4-0495-B637-EA593897C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847" y="1764665"/>
            <a:ext cx="5261025" cy="4351338"/>
          </a:xfrm>
        </p:spPr>
      </p:pic>
    </p:spTree>
    <p:extLst>
      <p:ext uri="{BB962C8B-B14F-4D97-AF65-F5344CB8AC3E}">
        <p14:creationId xmlns:p14="http://schemas.microsoft.com/office/powerpoint/2010/main" val="4237490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1378D-A169-FF1B-E6DB-3EDD0630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67FEEB0-BEC7-6388-297B-AE2EB45C3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E93175-0B85-6213-BA1E-77C798554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3700B5-A055-CA5A-475D-F76876970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564B5F-2682-4EC2-474F-CC61C707C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867BF5-05CB-8D71-ECBB-614B78EE5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9087F-9116-DB69-CD88-18BF564C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821060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Accuracy on EmoDB Dataset (61.12%)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ADC422-191A-06C4-D2A3-74C732036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2579" y="1764665"/>
            <a:ext cx="5044601" cy="4351338"/>
          </a:xfrm>
        </p:spPr>
      </p:pic>
    </p:spTree>
    <p:extLst>
      <p:ext uri="{BB962C8B-B14F-4D97-AF65-F5344CB8AC3E}">
        <p14:creationId xmlns:p14="http://schemas.microsoft.com/office/powerpoint/2010/main" val="2815102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138FD-225D-649B-26AE-3319BCA6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612B34-6146-C172-D7E7-3793FADA9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FE017D-F184-AA69-71E8-2EFC760B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1A0BC8-8B07-3C8A-1D00-ED9E9621F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1DC2F0-09D0-396D-50A4-C71C01E1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8C8020-E130-D69C-4582-E8625BBAF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2BBDC-B16F-79C0-4E85-336BCAE2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976926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Accuracy on CREMA-D Dataset (36.35%)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A1FD5C-92C8-FA1F-228A-2D71D43A9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960" y="1663064"/>
            <a:ext cx="5157439" cy="4460095"/>
          </a:xfrm>
        </p:spPr>
      </p:pic>
    </p:spTree>
    <p:extLst>
      <p:ext uri="{BB962C8B-B14F-4D97-AF65-F5344CB8AC3E}">
        <p14:creationId xmlns:p14="http://schemas.microsoft.com/office/powerpoint/2010/main" val="1755083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8BAEB-622F-5555-973E-CF0C2643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0D433B-8EB6-3404-F2C0-0045A4C0E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AA204F-0B62-81C0-4FE2-2268897B3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FCFB7-2ABA-E799-0FA6-8C9BAA87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8B1E77-7DF5-7EBC-7FEB-D0A7B06CD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DF8A19-149A-E4E0-A773-9C800AB6E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513C5-C49C-7B60-8DDE-E24D58F4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Accuracy on IESC Dataset (31.83%)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2E21338-6A42-F117-EDDD-E71757B55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820" y="1699790"/>
            <a:ext cx="5501138" cy="4351338"/>
          </a:xfrm>
        </p:spPr>
      </p:pic>
    </p:spTree>
    <p:extLst>
      <p:ext uri="{BB962C8B-B14F-4D97-AF65-F5344CB8AC3E}">
        <p14:creationId xmlns:p14="http://schemas.microsoft.com/office/powerpoint/2010/main" val="4191008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0466A-F334-C1AE-503C-AF2CD76D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DA639B8-2736-16A2-9F6C-0A2661AA7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F7AB9F-3992-2959-C194-52237828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625B08-A744-7928-F462-C0BCEFFD1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53CF91-2D31-FC5F-5E4D-4EB6F1B2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FAD186-65DC-FBD1-46AC-C21315BCF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D615E-0038-8048-34E6-9C851256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Accuracy on TESS Dataset (42.79%)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68724C-CBFA-3347-932A-401C34055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4443" y="1774825"/>
            <a:ext cx="4921513" cy="4351338"/>
          </a:xfrm>
        </p:spPr>
      </p:pic>
    </p:spTree>
    <p:extLst>
      <p:ext uri="{BB962C8B-B14F-4D97-AF65-F5344CB8AC3E}">
        <p14:creationId xmlns:p14="http://schemas.microsoft.com/office/powerpoint/2010/main" val="85922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9F525-1C74-E70B-6C68-DD45A8C7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6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583</Words>
  <Application>Microsoft Office PowerPoint</Application>
  <PresentationFormat>Widescreen</PresentationFormat>
  <Paragraphs>109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Office Theme</vt:lpstr>
      <vt:lpstr> DepreechX  A Mechanism for Screening Patients Vulnerable to Depression using Speech 24-07-25</vt:lpstr>
      <vt:lpstr>Paper : Enhanced speech emotion recognition using averaged valence arousal dominance mapping and deep neural networks</vt:lpstr>
      <vt:lpstr>Model Architecture </vt:lpstr>
      <vt:lpstr>Model Training and Testing </vt:lpstr>
      <vt:lpstr>Ground Truth Valence, Arousal and Dominance</vt:lpstr>
      <vt:lpstr>Accuracy Results Comparison </vt:lpstr>
      <vt:lpstr>Accuracy Results on RAVDESS with Huber Loss</vt:lpstr>
      <vt:lpstr>RAVDESS (Top-3NN-Accuracy) w/ Huber Loss</vt:lpstr>
      <vt:lpstr>Results on EmoDB (7 emotions) Dataset with Huber Loss</vt:lpstr>
      <vt:lpstr>EmoDB (Top-3NN-Accuracy) w/ Huber Loss</vt:lpstr>
      <vt:lpstr>Results on CREMA-D (6 emotions) Dataset w/ Huber Loss</vt:lpstr>
      <vt:lpstr>CREMA-D Dataset  ( Top-3NN- Accuracy) with Huber Loss</vt:lpstr>
      <vt:lpstr>TESS Dataset (7 emotions) with Huber Loss</vt:lpstr>
      <vt:lpstr>TESS Dataset  ( Top-3NN- Accuracy) with Huber Loss</vt:lpstr>
      <vt:lpstr>Results on IESC Dataset ( 5 emotions ) with Huber Loss Function</vt:lpstr>
      <vt:lpstr>IESC Dataset ( Top-3NN- Accuracy) with Huber Loss Function</vt:lpstr>
      <vt:lpstr>Accuracy Results on RAVDESS ( 8 emotions ) </vt:lpstr>
      <vt:lpstr>RAVDESS (Top-3NN-Accuracy)</vt:lpstr>
      <vt:lpstr>Results on EmoDB Dataset ( 7 emotions )</vt:lpstr>
      <vt:lpstr>EmoDB (Top-3NN-Accuracy)</vt:lpstr>
      <vt:lpstr>Results on CREMA-D Dataset ( 6 emotions )</vt:lpstr>
      <vt:lpstr>CREMA-D Dataset  ( Top-3NN- Accuracy)</vt:lpstr>
      <vt:lpstr>Results on IESC Dataset ( 5 emotions ) </vt:lpstr>
      <vt:lpstr>IESC Dataset ( Top-3NN- Accuracy)</vt:lpstr>
      <vt:lpstr>TESS Dataset (7 emotions)</vt:lpstr>
      <vt:lpstr>TESS Dataset  ( Top-3NN- Accuracy)</vt:lpstr>
      <vt:lpstr>Accuracy Results (o/p head predicting emotion)</vt:lpstr>
      <vt:lpstr>Accuracy on RAVDESS Dataset (95.33%)</vt:lpstr>
      <vt:lpstr>Accuracy on EmoDB Dataset (61.12%)</vt:lpstr>
      <vt:lpstr>Accuracy on CREMA-D Dataset (36.35%)</vt:lpstr>
      <vt:lpstr>Accuracy on IESC Dataset (31.83%)</vt:lpstr>
      <vt:lpstr>Accuracy on TESS Dataset (42.79%)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Gupta 24250086</dc:creator>
  <cp:lastModifiedBy>Shivansh Gupta 24250086</cp:lastModifiedBy>
  <cp:revision>26</cp:revision>
  <dcterms:created xsi:type="dcterms:W3CDTF">2025-07-02T10:22:55Z</dcterms:created>
  <dcterms:modified xsi:type="dcterms:W3CDTF">2025-08-27T20:02:35Z</dcterms:modified>
</cp:coreProperties>
</file>