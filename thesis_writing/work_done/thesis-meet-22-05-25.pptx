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rmorant Garamond Bold Italics" charset="1" panose="00000800000000000000"/>
      <p:regular r:id="rId15"/>
    </p:embeddedFont>
    <p:embeddedFont>
      <p:font typeface="Quicksand" charset="1" panose="000000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DepreechX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37050"/>
            <a:ext cx="12812922" cy="199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Towards Interactive Systems for Interpretable Depression Screening via Speech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22 May,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5 - Feature 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731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#3 features from pause histogram of the frame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Mean Pause Duration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Std. of Pause Durations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Total Pause Count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#2 extra features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RMS value 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Std. of Energy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#5 features per frame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20 - Feature 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12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10 features from pause histogram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10 features from melspectogram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818399"/>
            <a:ext cx="6074142" cy="6324872"/>
          </a:xfrm>
          <a:custGeom>
            <a:avLst/>
            <a:gdLst/>
            <a:ahLst/>
            <a:cxnLst/>
            <a:rect r="r" b="b" t="t" l="l"/>
            <a:pathLst>
              <a:path h="6324872" w="6074142">
                <a:moveTo>
                  <a:pt x="0" y="0"/>
                </a:moveTo>
                <a:lnTo>
                  <a:pt x="6074142" y="0"/>
                </a:lnTo>
                <a:lnTo>
                  <a:pt x="6074142" y="6324872"/>
                </a:lnTo>
                <a:lnTo>
                  <a:pt x="0" y="6324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45750" y="2818399"/>
            <a:ext cx="6233553" cy="6043216"/>
          </a:xfrm>
          <a:custGeom>
            <a:avLst/>
            <a:gdLst/>
            <a:ahLst/>
            <a:cxnLst/>
            <a:rect r="r" b="b" t="t" l="l"/>
            <a:pathLst>
              <a:path h="6043216" w="6233553">
                <a:moveTo>
                  <a:pt x="0" y="0"/>
                </a:moveTo>
                <a:lnTo>
                  <a:pt x="6233553" y="0"/>
                </a:lnTo>
                <a:lnTo>
                  <a:pt x="6233553" y="6043216"/>
                </a:lnTo>
                <a:lnTo>
                  <a:pt x="0" y="6043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- (Squeeze and Excitation + Residual Blocks along with 2D CNN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0511" y="2698240"/>
            <a:ext cx="7718789" cy="6020655"/>
          </a:xfrm>
          <a:custGeom>
            <a:avLst/>
            <a:gdLst/>
            <a:ahLst/>
            <a:cxnLst/>
            <a:rect r="r" b="b" t="t" l="l"/>
            <a:pathLst>
              <a:path h="6020655" w="7718789">
                <a:moveTo>
                  <a:pt x="0" y="0"/>
                </a:moveTo>
                <a:lnTo>
                  <a:pt x="7718789" y="0"/>
                </a:lnTo>
                <a:lnTo>
                  <a:pt x="7718789" y="6020655"/>
                </a:lnTo>
                <a:lnTo>
                  <a:pt x="0" y="602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698240"/>
            <a:ext cx="7475240" cy="6073633"/>
          </a:xfrm>
          <a:custGeom>
            <a:avLst/>
            <a:gdLst/>
            <a:ahLst/>
            <a:cxnLst/>
            <a:rect r="r" b="b" t="t" l="l"/>
            <a:pathLst>
              <a:path h="6073633" w="7475240">
                <a:moveTo>
                  <a:pt x="0" y="0"/>
                </a:moveTo>
                <a:lnTo>
                  <a:pt x="7475240" y="0"/>
                </a:lnTo>
                <a:lnTo>
                  <a:pt x="7475240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Model Results (window size - 300ms)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695673"/>
            <a:ext cx="261200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43041" y="8695673"/>
            <a:ext cx="225340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Training 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43728" y="2818399"/>
          <a:ext cx="16234916" cy="5082598"/>
        </p:xfrm>
        <a:graphic>
          <a:graphicData uri="http://schemas.openxmlformats.org/drawingml/2006/table">
            <a:tbl>
              <a:tblPr/>
              <a:tblGrid>
                <a:gridCol w="5545670"/>
                <a:gridCol w="2710778"/>
                <a:gridCol w="2712520"/>
                <a:gridCol w="2573112"/>
                <a:gridCol w="2692836"/>
              </a:tblGrid>
              <a:tr h="10326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Category/Window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4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(20 feature set)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48.47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62.62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44.53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57.83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45.07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57.44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43.37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63.08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5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(5 feature set)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32.36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40.42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35.42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41.46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33.51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41.69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29.03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38.02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 Results - Comparison between window sizes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6320" y="3919469"/>
            <a:ext cx="3816954" cy="1908477"/>
          </a:xfrm>
          <a:custGeom>
            <a:avLst/>
            <a:gdLst/>
            <a:ahLst/>
            <a:cxnLst/>
            <a:rect r="r" b="b" t="t" l="l"/>
            <a:pathLst>
              <a:path h="1908477" w="3816954">
                <a:moveTo>
                  <a:pt x="0" y="0"/>
                </a:moveTo>
                <a:lnTo>
                  <a:pt x="3816954" y="0"/>
                </a:lnTo>
                <a:lnTo>
                  <a:pt x="3816954" y="1908477"/>
                </a:lnTo>
                <a:lnTo>
                  <a:pt x="0" y="1908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439814" y="4892758"/>
            <a:ext cx="11741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5975954" y="3330658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BBB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 1D Convolution Layers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1D CNN + LSTM Model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265" y="6619875"/>
            <a:ext cx="300722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Input Waveform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Shape - (1,N)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03461" y="6619875"/>
            <a:ext cx="523108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Intermediate Representation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Shape - (512,N/64)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547452" y="4911808"/>
            <a:ext cx="11741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11083592" y="3330658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BBBE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LSTM Layer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21642" y="6619875"/>
            <a:ext cx="3825032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Representation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Shape - (1,512)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509353" y="4930858"/>
            <a:ext cx="11741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6045493" y="3330658"/>
            <a:ext cx="1916859" cy="3086100"/>
            <a:chOff x="0" y="0"/>
            <a:chExt cx="504852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4852" cy="812800"/>
            </a:xfrm>
            <a:custGeom>
              <a:avLst/>
              <a:gdLst/>
              <a:ahLst/>
              <a:cxnLst/>
              <a:rect r="r" b="b" t="t" l="l"/>
              <a:pathLst>
                <a:path h="812800" w="504852">
                  <a:moveTo>
                    <a:pt x="205982" y="0"/>
                  </a:moveTo>
                  <a:lnTo>
                    <a:pt x="298870" y="0"/>
                  </a:lnTo>
                  <a:cubicBezTo>
                    <a:pt x="353500" y="0"/>
                    <a:pt x="405892" y="21702"/>
                    <a:pt x="444521" y="60331"/>
                  </a:cubicBezTo>
                  <a:cubicBezTo>
                    <a:pt x="483150" y="98960"/>
                    <a:pt x="504852" y="151352"/>
                    <a:pt x="504852" y="205982"/>
                  </a:cubicBezTo>
                  <a:lnTo>
                    <a:pt x="504852" y="606818"/>
                  </a:lnTo>
                  <a:cubicBezTo>
                    <a:pt x="504852" y="661448"/>
                    <a:pt x="483150" y="713840"/>
                    <a:pt x="444521" y="752469"/>
                  </a:cubicBezTo>
                  <a:cubicBezTo>
                    <a:pt x="405892" y="791098"/>
                    <a:pt x="353500" y="812800"/>
                    <a:pt x="298870" y="812800"/>
                  </a:cubicBezTo>
                  <a:lnTo>
                    <a:pt x="205982" y="812800"/>
                  </a:lnTo>
                  <a:cubicBezTo>
                    <a:pt x="151352" y="812800"/>
                    <a:pt x="98960" y="791098"/>
                    <a:pt x="60331" y="752469"/>
                  </a:cubicBezTo>
                  <a:cubicBezTo>
                    <a:pt x="21702" y="713840"/>
                    <a:pt x="0" y="661448"/>
                    <a:pt x="0" y="606818"/>
                  </a:cubicBezTo>
                  <a:lnTo>
                    <a:pt x="0" y="205982"/>
                  </a:lnTo>
                  <a:cubicBezTo>
                    <a:pt x="0" y="151352"/>
                    <a:pt x="21702" y="98960"/>
                    <a:pt x="60331" y="60331"/>
                  </a:cubicBezTo>
                  <a:cubicBezTo>
                    <a:pt x="98960" y="21702"/>
                    <a:pt x="151352" y="0"/>
                    <a:pt x="205982" y="0"/>
                  </a:cubicBezTo>
                  <a:close/>
                </a:path>
              </a:pathLst>
            </a:custGeom>
            <a:solidFill>
              <a:srgbClr val="BBBB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04852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FC Layer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873945" y="6619875"/>
            <a:ext cx="225995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Logits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Shape - (1,8)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5870" y="2007786"/>
            <a:ext cx="6976231" cy="6191405"/>
          </a:xfrm>
          <a:custGeom>
            <a:avLst/>
            <a:gdLst/>
            <a:ahLst/>
            <a:cxnLst/>
            <a:rect r="r" b="b" t="t" l="l"/>
            <a:pathLst>
              <a:path h="6191405" w="6976231">
                <a:moveTo>
                  <a:pt x="0" y="0"/>
                </a:moveTo>
                <a:lnTo>
                  <a:pt x="6976231" y="0"/>
                </a:lnTo>
                <a:lnTo>
                  <a:pt x="6976231" y="6191405"/>
                </a:lnTo>
                <a:lnTo>
                  <a:pt x="0" y="6191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81873" y="1832382"/>
            <a:ext cx="6968569" cy="6193316"/>
          </a:xfrm>
          <a:custGeom>
            <a:avLst/>
            <a:gdLst/>
            <a:ahLst/>
            <a:cxnLst/>
            <a:rect r="r" b="b" t="t" l="l"/>
            <a:pathLst>
              <a:path h="6193316" w="6968569">
                <a:moveTo>
                  <a:pt x="0" y="0"/>
                </a:moveTo>
                <a:lnTo>
                  <a:pt x="6968570" y="0"/>
                </a:lnTo>
                <a:lnTo>
                  <a:pt x="6968570" y="6193316"/>
                </a:lnTo>
                <a:lnTo>
                  <a:pt x="0" y="6193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1D CNN + LSTM Model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239448"/>
            <a:ext cx="261200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9455" y="8239448"/>
            <a:ext cx="225340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Training 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DAGoD3yIx7s</dc:identifier>
  <dcterms:modified xsi:type="dcterms:W3CDTF">2011-08-01T06:04:30Z</dcterms:modified>
  <cp:revision>1</cp:revision>
  <dc:title>Copy of Copy of Copy of White Blue Simple Modern Enhancing Sales Strategy Presentation</dc:title>
</cp:coreProperties>
</file>