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88" r:id="rId3"/>
    <p:sldId id="295" r:id="rId4"/>
    <p:sldId id="27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ECCC6-7EBF-430F-B79F-7FD4319C350B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405FC-FA9D-4360-9046-5B8367AD7C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846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EE863-4E86-39E7-3EB4-0F6910075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F31EF-369F-7F4B-BFB7-34497C7D0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F5695-3E84-EE0F-F59B-F0B438F8A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94F73-C391-7EA7-2B93-7A8AB6AEA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9B73C-A5B9-8D0A-B414-EC332D20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897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383EA-45B7-E2DE-578E-DDBEEA0E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8CB4C-656D-D0CA-A4D0-ACD7E830C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5F46B-DE41-638A-9BC5-740E0E620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A9BF2-5B33-3762-689C-86D87FF91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6A729-0F1A-6C94-0293-E4A74304F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172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ACCCB-4479-1959-2C68-427C4656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8F039-E547-5C7F-3EE1-72B9AC39A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1BF03-8B18-8C87-7036-9287B567C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AA26C-50CB-6429-A8E0-8A52190B4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60584-6FA9-9E1F-2D2A-2ECD7E97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332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A77C4-6897-E4DD-9E0D-31CB22C5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9BA04-7726-9408-8071-B584D1224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BDE86-7187-070D-1F54-5353BCA09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A2945-48B6-A4DD-3AB2-A7EF2F218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546BC-C6DC-1D99-4EEC-69F2DBA7B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0DB69-7E43-4EC0-A144-BE57B8D23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711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E3F5-1A25-5466-30E6-F67DC8160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19070-5824-F77B-2F11-18A106C04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1946A1-A42F-00A0-E038-694A172A7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4EE1D8-3B58-9E82-9F69-46123D4549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F1B1A-741A-DAF4-8336-C2AFD2DFC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786839-2B63-0E18-B794-FD9D7DC0A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3ADAF-4B0D-616D-8344-A71F17D8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78913B-77EC-6267-D667-8D611C191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649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B07C4-276F-C09A-9524-EDBEE7722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01BD0-2FCC-299E-D5F1-486B0A990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2399F-B2BC-04E4-4C66-9C6C5969A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C05276-36C0-FFBF-C46F-EC93998E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133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B540DC-4463-DD79-86CF-C0477C6EA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A32DCB-706C-1DBB-FE3D-4447545D2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36225-9DEE-46A2-D009-A6AE51E3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83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7F089-926D-B968-969F-E8E8347E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1408B-F136-C133-49AE-E2594258E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D6622-0477-F0E5-46E0-0DDEB4AF9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C94F1-705D-99BB-8296-59EDAD23C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3453F-E193-4C9A-BA6F-A3863998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CC855-C03F-A057-8521-702E0A72C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236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851BB-C433-B12B-6AED-F765F8C67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E085C8-8E6C-AC1E-6C0D-105C3E3BA3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B59346-65CE-FBC7-256A-4D4F42C57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F5603-8E2D-A465-16F7-8193600B8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D5631-EC37-630C-A023-F902D36E8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CCB12-482E-6094-A758-DBFD1BA96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75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2186B-30E0-FE84-819A-6D26EA676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5EDCB5-CEA6-B69B-F069-11F9F1CC4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7F94B-C8ED-6C8B-8AF1-7F656CE8E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DE8EB-F579-FFF3-09E0-20F6C0524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95FA0-AB86-C1E2-51C3-05BBE5885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94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EE6736-3E3D-E95C-2ADE-F81F584D9C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61E9ED-6518-9250-69CC-01E897283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DC27D-939A-CB84-AB43-DB78F7F6B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02A9-747D-40EE-94C6-B1D29AA431C0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D5DC7-07ED-1695-8111-551B746AE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009C4-90BF-2833-0503-616B27A5C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499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86F560-ED91-A093-72DA-335EA4F5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EEACF-FF74-644C-BE90-0D60D7DC7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463AB-121F-CCC7-D357-A52145C6F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702A9-747D-40EE-94C6-B1D29AA431C0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13B6E-109E-A764-11D6-4E37107A1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654F7-8A8B-E607-9DD8-E1AF7B836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96996-A862-42AB-AA56-B797279C4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72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DD4ABE-E2A4-6287-9233-17600E49F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5754" y="799320"/>
            <a:ext cx="7443020" cy="3644861"/>
          </a:xfrm>
        </p:spPr>
        <p:txBody>
          <a:bodyPr>
            <a:normAutofit/>
          </a:bodyPr>
          <a:lstStyle/>
          <a:p>
            <a:pPr algn="l"/>
            <a:br>
              <a:rPr lang="en-GB" sz="4800" dirty="0">
                <a:solidFill>
                  <a:srgbClr val="FFFFFF"/>
                </a:solidFill>
              </a:rPr>
            </a:br>
            <a:r>
              <a:rPr lang="en-GB" sz="4800" dirty="0">
                <a:solidFill>
                  <a:srgbClr val="FFFFFF"/>
                </a:solidFill>
              </a:rPr>
              <a:t>DepreechX </a:t>
            </a:r>
            <a:br>
              <a:rPr lang="en-GB" sz="4800" dirty="0">
                <a:solidFill>
                  <a:srgbClr val="FFFFFF"/>
                </a:solidFill>
              </a:rPr>
            </a:br>
            <a:r>
              <a:rPr lang="en-GB" sz="3200" dirty="0">
                <a:solidFill>
                  <a:srgbClr val="FFFFFF"/>
                </a:solidFill>
              </a:rPr>
              <a:t>A Mechanism for Screening Patients Vulnerable to Depression using Speech</a:t>
            </a:r>
            <a:br>
              <a:rPr lang="en-GB" sz="3200" dirty="0">
                <a:solidFill>
                  <a:srgbClr val="FFFFFF"/>
                </a:solidFill>
              </a:rPr>
            </a:br>
            <a:r>
              <a:rPr lang="en-GB" sz="3200" dirty="0">
                <a:solidFill>
                  <a:srgbClr val="FFFFFF"/>
                </a:solidFill>
              </a:rPr>
              <a:t>28-08-25</a:t>
            </a:r>
            <a:endParaRPr lang="en-IN" sz="3200" dirty="0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17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8FA19A-730E-0E49-190E-B4A4363A9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257825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Call Recording System : Architecture and Flow 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FD52D-474E-3169-D253-DD5BD0693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b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b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endParaRPr lang="en-US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F1A538-9101-3A94-39D6-EF4C52E1D7D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/>
              <a:t>   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F9B726-814D-4A57-484C-B024D633A2AB}"/>
              </a:ext>
            </a:extLst>
          </p:cNvPr>
          <p:cNvSpPr/>
          <p:nvPr/>
        </p:nvSpPr>
        <p:spPr>
          <a:xfrm>
            <a:off x="3313471" y="1956620"/>
            <a:ext cx="1700981" cy="11995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RabbitMQ</a:t>
            </a:r>
            <a:br>
              <a:rPr lang="en-GB" dirty="0"/>
            </a:br>
            <a:r>
              <a:rPr lang="en-GB" dirty="0"/>
              <a:t>(Message Broker) 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7E5008-B083-5ADA-E34F-0C38D3FA5931}"/>
              </a:ext>
            </a:extLst>
          </p:cNvPr>
          <p:cNvSpPr/>
          <p:nvPr/>
        </p:nvSpPr>
        <p:spPr>
          <a:xfrm>
            <a:off x="5776451" y="1951704"/>
            <a:ext cx="1700981" cy="11995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Celery Worker</a:t>
            </a:r>
          </a:p>
          <a:p>
            <a:pPr algn="ctr"/>
            <a:r>
              <a:rPr lang="en-GB" dirty="0"/>
              <a:t>(Consume tasks)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FB2176-1C9B-F67C-CCF1-F34E97FAE4E6}"/>
              </a:ext>
            </a:extLst>
          </p:cNvPr>
          <p:cNvSpPr/>
          <p:nvPr/>
        </p:nvSpPr>
        <p:spPr>
          <a:xfrm>
            <a:off x="722671" y="1951704"/>
            <a:ext cx="1700981" cy="11995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Celery Beat</a:t>
            </a:r>
            <a:br>
              <a:rPr lang="en-GB" dirty="0"/>
            </a:br>
            <a:r>
              <a:rPr lang="en-GB" dirty="0"/>
              <a:t>(Scheduler) 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9E7DEF-E39E-2ADB-3977-B2F39D5D2400}"/>
              </a:ext>
            </a:extLst>
          </p:cNvPr>
          <p:cNvSpPr/>
          <p:nvPr/>
        </p:nvSpPr>
        <p:spPr>
          <a:xfrm>
            <a:off x="8593394" y="1956620"/>
            <a:ext cx="1700981" cy="11995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Twilio API 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B4E4D4-8A77-698C-C5D1-CB0916B3AF16}"/>
              </a:ext>
            </a:extLst>
          </p:cNvPr>
          <p:cNvSpPr/>
          <p:nvPr/>
        </p:nvSpPr>
        <p:spPr>
          <a:xfrm>
            <a:off x="8621567" y="4277789"/>
            <a:ext cx="1700981" cy="11995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FastAPI</a:t>
            </a:r>
            <a:br>
              <a:rPr lang="en-GB" dirty="0"/>
            </a:br>
            <a:r>
              <a:rPr lang="en-GB" dirty="0"/>
              <a:t>(For building backend API)</a:t>
            </a:r>
            <a:endParaRPr lang="en-IN" dirty="0"/>
          </a:p>
        </p:txBody>
      </p:sp>
      <p:sp>
        <p:nvSpPr>
          <p:cNvPr id="13" name="Cylinder 12">
            <a:extLst>
              <a:ext uri="{FF2B5EF4-FFF2-40B4-BE49-F238E27FC236}">
                <a16:creationId xmlns:a16="http://schemas.microsoft.com/office/drawing/2014/main" id="{2143A272-10E4-BD26-8F5E-C0E6745DA2D8}"/>
              </a:ext>
            </a:extLst>
          </p:cNvPr>
          <p:cNvSpPr/>
          <p:nvPr/>
        </p:nvSpPr>
        <p:spPr>
          <a:xfrm>
            <a:off x="5073445" y="3657599"/>
            <a:ext cx="1445342" cy="114054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Mongo DB</a:t>
            </a:r>
            <a:endParaRPr lang="en-IN" dirty="0"/>
          </a:p>
        </p:txBody>
      </p:sp>
      <p:sp>
        <p:nvSpPr>
          <p:cNvPr id="15" name="Cylinder 14">
            <a:extLst>
              <a:ext uri="{FF2B5EF4-FFF2-40B4-BE49-F238E27FC236}">
                <a16:creationId xmlns:a16="http://schemas.microsoft.com/office/drawing/2014/main" id="{83D1B9D3-BB33-D8A3-E2D7-6875BABBDBB8}"/>
              </a:ext>
            </a:extLst>
          </p:cNvPr>
          <p:cNvSpPr/>
          <p:nvPr/>
        </p:nvSpPr>
        <p:spPr>
          <a:xfrm>
            <a:off x="5088194" y="5343831"/>
            <a:ext cx="1445342" cy="114054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Minio Object Storage</a:t>
            </a:r>
            <a:endParaRPr lang="en-IN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3771CA8-F097-F434-B745-8C8F909F3842}"/>
              </a:ext>
            </a:extLst>
          </p:cNvPr>
          <p:cNvCxnSpPr>
            <a:stCxn id="7" idx="3"/>
            <a:endCxn id="5" idx="1"/>
          </p:cNvCxnSpPr>
          <p:nvPr/>
        </p:nvCxnSpPr>
        <p:spPr>
          <a:xfrm>
            <a:off x="2423652" y="2551472"/>
            <a:ext cx="889819" cy="491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8EC7FB5-3624-2B5F-EDA4-235504CF5491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5014452" y="2551472"/>
            <a:ext cx="761999" cy="491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F53FE1-7E09-3409-6448-722258927503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7477432" y="2551472"/>
            <a:ext cx="1115962" cy="491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A8904F7-F931-2690-142A-05C6CC10BB99}"/>
              </a:ext>
            </a:extLst>
          </p:cNvPr>
          <p:cNvCxnSpPr>
            <a:stCxn id="13" idx="4"/>
            <a:endCxn id="11" idx="1"/>
          </p:cNvCxnSpPr>
          <p:nvPr/>
        </p:nvCxnSpPr>
        <p:spPr>
          <a:xfrm>
            <a:off x="6518787" y="4227870"/>
            <a:ext cx="2102780" cy="649687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AF97BDA-7138-E639-277F-61138E4E876A}"/>
              </a:ext>
            </a:extLst>
          </p:cNvPr>
          <p:cNvCxnSpPr>
            <a:cxnSpLocks/>
            <a:stCxn id="15" idx="4"/>
          </p:cNvCxnSpPr>
          <p:nvPr/>
        </p:nvCxnSpPr>
        <p:spPr>
          <a:xfrm flipV="1">
            <a:off x="6533536" y="4945626"/>
            <a:ext cx="2099186" cy="968476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A49FD85-C7BF-EAD0-6B45-1E18AD65AEB2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9443885" y="3156155"/>
            <a:ext cx="28173" cy="112163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A0BA0E5-7C78-9C53-FBEF-908FC0143898}"/>
              </a:ext>
            </a:extLst>
          </p:cNvPr>
          <p:cNvSpPr txBox="1"/>
          <p:nvPr/>
        </p:nvSpPr>
        <p:spPr>
          <a:xfrm>
            <a:off x="2713702" y="5761702"/>
            <a:ext cx="2438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Stores Call Recordings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7DE78A-D874-91EF-2BCF-3F238B14904B}"/>
              </a:ext>
            </a:extLst>
          </p:cNvPr>
          <p:cNvSpPr txBox="1"/>
          <p:nvPr/>
        </p:nvSpPr>
        <p:spPr>
          <a:xfrm>
            <a:off x="2762864" y="4001729"/>
            <a:ext cx="2330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Stores call metadata and users’ info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7834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2BE28C-7AC3-4D0B-2CC4-BEE5CC087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BBD1E0-9B36-DDEA-2CEE-6ACB18B2F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D055E8-E867-7894-9373-055CC8BF1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306E38-B926-867F-34B9-938E3C3C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7ACEFA-C584-695A-3613-3E9E5113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D80637-D800-9F9A-9DF0-0C6EA3559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Tech Stack 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FEB9D-4CF8-189C-52C9-CA5CA00F4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b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b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endParaRPr lang="en-US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7CC159B-B7E1-7D11-4483-4F20C5621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906" y="1940344"/>
            <a:ext cx="1164493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High-performance Python web framework for building API endpoints and handling Twilio webhooks.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Celery: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Distributed task queue for asynchronous background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Celery Beat: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scheduler for Celery, enabling periodic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Mongo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DB: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Flexible NoSQL database for storing call metadata and user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Minio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A high-performance, self-hosted object storage that acts as private, scalable and secure file server for all our recordings.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Twilio: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communication platform API used for making outbound calls and managing voice interactions.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en-US" altLang="en-US" b="1" dirty="0">
                <a:latin typeface="Arial" panose="020B0604020202020204" pitchFamily="34" charset="0"/>
              </a:rPr>
              <a:t>abbitMQ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Serves as the message broker and result backend for Celery, ensuring reliable task delivery.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868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9F525-1C74-E70B-6C68-DD45A8C7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069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thesis-meet-07-24</Template>
  <TotalTime>314</TotalTime>
  <Words>182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 DepreechX  A Mechanism for Screening Patients Vulnerable to Depression using Speech 28-08-25</vt:lpstr>
      <vt:lpstr>Call Recording System : Architecture and Flow </vt:lpstr>
      <vt:lpstr>Tech Stack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Shivansh Gupta 24250086</dc:creator>
  <cp:lastModifiedBy>Shivansh Gupta 24250086</cp:lastModifiedBy>
  <cp:revision>12</cp:revision>
  <dcterms:created xsi:type="dcterms:W3CDTF">2025-08-05T21:43:49Z</dcterms:created>
  <dcterms:modified xsi:type="dcterms:W3CDTF">2025-08-27T16:57:33Z</dcterms:modified>
</cp:coreProperties>
</file>