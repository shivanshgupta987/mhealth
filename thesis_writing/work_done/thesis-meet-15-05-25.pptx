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ormorant Garamond Bold Italics" charset="1" panose="00000800000000000000"/>
      <p:regular r:id="rId16"/>
    </p:embeddedFont>
    <p:embeddedFont>
      <p:font typeface="Quicksand" charset="1" panose="00000000000000000000"/>
      <p:regular r:id="rId17"/>
    </p:embeddedFont>
    <p:embeddedFont>
      <p:font typeface="Canva Sans Bold" charset="1" panose="020B0803030501040103"/>
      <p:regular r:id="rId18"/>
    </p:embeddedFont>
    <p:embeddedFont>
      <p:font typeface="Canva Sans" charset="1" panose="020B05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3764" y="2478342"/>
            <a:ext cx="16229942" cy="318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9"/>
              </a:lnSpc>
              <a:spcBef>
                <a:spcPct val="0"/>
              </a:spcBef>
            </a:pPr>
            <a:r>
              <a:rPr lang="en-US" b="true" sz="18577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DepreechX</a:t>
            </a:r>
          </a:p>
        </p:txBody>
      </p:sp>
      <p:sp>
        <p:nvSpPr>
          <p:cNvPr name="AutoShape 3" id="3"/>
          <p:cNvSpPr/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618706" y="90374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37539" y="5937050"/>
            <a:ext cx="12812922" cy="1991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</a:pPr>
            <a:r>
              <a:rPr lang="en-US" sz="329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Towards Interactive Systems for Interpretable Depression Screening via Speech</a:t>
            </a:r>
          </a:p>
          <a:p>
            <a:pPr algn="ctr" marL="0" indent="0" lvl="0">
              <a:lnSpc>
                <a:spcPts val="6844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649752" y="7032069"/>
            <a:ext cx="6988496" cy="525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97"/>
              </a:lnSpc>
              <a:spcBef>
                <a:spcPct val="0"/>
              </a:spcBef>
            </a:pPr>
            <a:r>
              <a:rPr lang="en-US" sz="314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15 May, 2025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646742" y="8078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4384" y="599709"/>
            <a:ext cx="140720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Feature Set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384" y="2219635"/>
            <a:ext cx="13592281" cy="731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8559" indent="-374279" lvl="1">
              <a:lnSpc>
                <a:spcPts val="4854"/>
              </a:lnSpc>
              <a:buFont typeface="Arial"/>
              <a:buChar char="•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#3 features from pause histogram of the frame</a:t>
            </a:r>
          </a:p>
          <a:p>
            <a:pPr algn="l" marL="1497118" indent="-499039" lvl="2">
              <a:lnSpc>
                <a:spcPts val="4854"/>
              </a:lnSpc>
              <a:buFont typeface="Arial"/>
              <a:buChar char="⚬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Mean Pause Duration</a:t>
            </a:r>
          </a:p>
          <a:p>
            <a:pPr algn="l" marL="1497118" indent="-499039" lvl="2">
              <a:lnSpc>
                <a:spcPts val="4854"/>
              </a:lnSpc>
              <a:buFont typeface="Arial"/>
              <a:buChar char="⚬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Std. of Pause Durations</a:t>
            </a:r>
          </a:p>
          <a:p>
            <a:pPr algn="l" marL="1497118" indent="-499039" lvl="2">
              <a:lnSpc>
                <a:spcPts val="4854"/>
              </a:lnSpc>
              <a:buFont typeface="Arial"/>
              <a:buChar char="⚬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Total Pause Count</a:t>
            </a:r>
          </a:p>
          <a:p>
            <a:pPr algn="l" marL="748559" indent="-374279" lvl="1">
              <a:lnSpc>
                <a:spcPts val="4854"/>
              </a:lnSpc>
              <a:buFont typeface="Arial"/>
              <a:buChar char="•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#2 extra features</a:t>
            </a:r>
          </a:p>
          <a:p>
            <a:pPr algn="l" marL="1497118" indent="-499039" lvl="2">
              <a:lnSpc>
                <a:spcPts val="4854"/>
              </a:lnSpc>
              <a:buFont typeface="Arial"/>
              <a:buChar char="⚬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RMS value </a:t>
            </a:r>
          </a:p>
          <a:p>
            <a:pPr algn="l" marL="1497118" indent="-499039" lvl="2">
              <a:lnSpc>
                <a:spcPts val="4854"/>
              </a:lnSpc>
              <a:buFont typeface="Arial"/>
              <a:buChar char="⚬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Std. of Energy</a:t>
            </a:r>
          </a:p>
          <a:p>
            <a:pPr algn="l" marL="748559" indent="-374279" lvl="1">
              <a:lnSpc>
                <a:spcPts val="4854"/>
              </a:lnSpc>
              <a:buFont typeface="Arial"/>
              <a:buChar char="•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Total #5 features per frame</a:t>
            </a:r>
          </a:p>
          <a:p>
            <a:pPr algn="l">
              <a:lnSpc>
                <a:spcPts val="4854"/>
              </a:lnSpc>
            </a:pPr>
          </a:p>
          <a:p>
            <a:pPr algn="l">
              <a:lnSpc>
                <a:spcPts val="4854"/>
              </a:lnSpc>
            </a:pPr>
          </a:p>
          <a:p>
            <a:pPr algn="l">
              <a:lnSpc>
                <a:spcPts val="4854"/>
              </a:lnSpc>
            </a:pPr>
          </a:p>
          <a:p>
            <a:pPr algn="l">
              <a:lnSpc>
                <a:spcPts val="4854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1897195"/>
            <a:ext cx="8180956" cy="4990383"/>
          </a:xfrm>
          <a:custGeom>
            <a:avLst/>
            <a:gdLst/>
            <a:ahLst/>
            <a:cxnLst/>
            <a:rect r="r" b="b" t="t" l="l"/>
            <a:pathLst>
              <a:path h="4990383" w="8180956">
                <a:moveTo>
                  <a:pt x="0" y="0"/>
                </a:moveTo>
                <a:lnTo>
                  <a:pt x="8180956" y="0"/>
                </a:lnTo>
                <a:lnTo>
                  <a:pt x="8180956" y="4990384"/>
                </a:lnTo>
                <a:lnTo>
                  <a:pt x="0" y="49903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5312" y="1897195"/>
            <a:ext cx="8147564" cy="4990383"/>
          </a:xfrm>
          <a:custGeom>
            <a:avLst/>
            <a:gdLst/>
            <a:ahLst/>
            <a:cxnLst/>
            <a:rect r="r" b="b" t="t" l="l"/>
            <a:pathLst>
              <a:path h="4990383" w="8147564">
                <a:moveTo>
                  <a:pt x="0" y="0"/>
                </a:moveTo>
                <a:lnTo>
                  <a:pt x="8147565" y="0"/>
                </a:lnTo>
                <a:lnTo>
                  <a:pt x="8147565" y="4990384"/>
                </a:lnTo>
                <a:lnTo>
                  <a:pt x="0" y="49903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4384" y="599709"/>
            <a:ext cx="14072064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Model 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843728" y="2818399"/>
          <a:ext cx="16234916" cy="2847975"/>
        </p:xfrm>
        <a:graphic>
          <a:graphicData uri="http://schemas.openxmlformats.org/drawingml/2006/table">
            <a:tbl>
              <a:tblPr/>
              <a:tblGrid>
                <a:gridCol w="5545670"/>
                <a:gridCol w="2710778"/>
                <a:gridCol w="2712520"/>
                <a:gridCol w="2573112"/>
                <a:gridCol w="2692836"/>
              </a:tblGrid>
              <a:tr h="10329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Category/Window Size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20 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60 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80 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300 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49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Accuracy (30 epochs)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Test Acc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Train Acc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15.56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15.84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16.26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15.08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15.56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15.84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16.26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15.08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24384" y="599709"/>
            <a:ext cx="14072064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Model 1 Results - Comparision between window sizes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2606" y="2163926"/>
            <a:ext cx="7651394" cy="6035037"/>
          </a:xfrm>
          <a:custGeom>
            <a:avLst/>
            <a:gdLst/>
            <a:ahLst/>
            <a:cxnLst/>
            <a:rect r="r" b="b" t="t" l="l"/>
            <a:pathLst>
              <a:path h="6035037" w="7651394">
                <a:moveTo>
                  <a:pt x="0" y="0"/>
                </a:moveTo>
                <a:lnTo>
                  <a:pt x="7651394" y="0"/>
                </a:lnTo>
                <a:lnTo>
                  <a:pt x="7651394" y="6035037"/>
                </a:lnTo>
                <a:lnTo>
                  <a:pt x="0" y="60350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559909" y="2174190"/>
            <a:ext cx="7699391" cy="6024773"/>
          </a:xfrm>
          <a:custGeom>
            <a:avLst/>
            <a:gdLst/>
            <a:ahLst/>
            <a:cxnLst/>
            <a:rect r="r" b="b" t="t" l="l"/>
            <a:pathLst>
              <a:path h="6024773" w="7699391">
                <a:moveTo>
                  <a:pt x="0" y="0"/>
                </a:moveTo>
                <a:lnTo>
                  <a:pt x="7699391" y="0"/>
                </a:lnTo>
                <a:lnTo>
                  <a:pt x="7699391" y="6024773"/>
                </a:lnTo>
                <a:lnTo>
                  <a:pt x="0" y="60247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4384" y="599709"/>
            <a:ext cx="140720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Model 1 Results - Confusion Matrix (20 ms)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04381" y="8565341"/>
            <a:ext cx="2669009" cy="564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Validation Set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79233" y="8565341"/>
            <a:ext cx="2285479" cy="564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Training Set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64852" y="2490611"/>
            <a:ext cx="8079148" cy="5820933"/>
          </a:xfrm>
          <a:custGeom>
            <a:avLst/>
            <a:gdLst/>
            <a:ahLst/>
            <a:cxnLst/>
            <a:rect r="r" b="b" t="t" l="l"/>
            <a:pathLst>
              <a:path h="5820933" w="8079148">
                <a:moveTo>
                  <a:pt x="0" y="0"/>
                </a:moveTo>
                <a:lnTo>
                  <a:pt x="8079148" y="0"/>
                </a:lnTo>
                <a:lnTo>
                  <a:pt x="8079148" y="5820933"/>
                </a:lnTo>
                <a:lnTo>
                  <a:pt x="0" y="58209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547634" y="2490611"/>
            <a:ext cx="7537193" cy="5784880"/>
          </a:xfrm>
          <a:custGeom>
            <a:avLst/>
            <a:gdLst/>
            <a:ahLst/>
            <a:cxnLst/>
            <a:rect r="r" b="b" t="t" l="l"/>
            <a:pathLst>
              <a:path h="5784880" w="7537193">
                <a:moveTo>
                  <a:pt x="0" y="0"/>
                </a:moveTo>
                <a:lnTo>
                  <a:pt x="7537193" y="0"/>
                </a:lnTo>
                <a:lnTo>
                  <a:pt x="7537193" y="5784880"/>
                </a:lnTo>
                <a:lnTo>
                  <a:pt x="0" y="57848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4384" y="599709"/>
            <a:ext cx="14072064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i="true" b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Model 2</a:t>
            </a:r>
          </a:p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843728" y="2818399"/>
          <a:ext cx="16234916" cy="4638675"/>
        </p:xfrm>
        <a:graphic>
          <a:graphicData uri="http://schemas.openxmlformats.org/drawingml/2006/table">
            <a:tbl>
              <a:tblPr/>
              <a:tblGrid>
                <a:gridCol w="10928376"/>
                <a:gridCol w="5306540"/>
              </a:tblGrid>
              <a:tr h="10276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Category/Window Size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300 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55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Accuracy (60 epochs)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Test Acc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Train Acc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31.14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43.92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55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Accuracy (150 epochs)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Test Acc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Train Acc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29.71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40.48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24384" y="599709"/>
            <a:ext cx="14072064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Model 2 Results - Comparision between window sizes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4384" y="2146645"/>
            <a:ext cx="7847739" cy="5993711"/>
          </a:xfrm>
          <a:custGeom>
            <a:avLst/>
            <a:gdLst/>
            <a:ahLst/>
            <a:cxnLst/>
            <a:rect r="r" b="b" t="t" l="l"/>
            <a:pathLst>
              <a:path h="5993711" w="7847739">
                <a:moveTo>
                  <a:pt x="0" y="0"/>
                </a:moveTo>
                <a:lnTo>
                  <a:pt x="7847739" y="0"/>
                </a:lnTo>
                <a:lnTo>
                  <a:pt x="7847739" y="5993710"/>
                </a:lnTo>
                <a:lnTo>
                  <a:pt x="0" y="59937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765966" y="2146645"/>
            <a:ext cx="7493334" cy="6069600"/>
          </a:xfrm>
          <a:custGeom>
            <a:avLst/>
            <a:gdLst/>
            <a:ahLst/>
            <a:cxnLst/>
            <a:rect r="r" b="b" t="t" l="l"/>
            <a:pathLst>
              <a:path h="6069600" w="7493334">
                <a:moveTo>
                  <a:pt x="0" y="0"/>
                </a:moveTo>
                <a:lnTo>
                  <a:pt x="7493334" y="0"/>
                </a:lnTo>
                <a:lnTo>
                  <a:pt x="7493334" y="6069600"/>
                </a:lnTo>
                <a:lnTo>
                  <a:pt x="0" y="606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4384" y="599709"/>
            <a:ext cx="140720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Model 2 Results - Confusion Matrix(150 epochs)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04381" y="8565341"/>
            <a:ext cx="2669009" cy="564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Validation Set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79233" y="8565341"/>
            <a:ext cx="2285479" cy="564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Training Set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2629" y="2048754"/>
            <a:ext cx="7286991" cy="6458096"/>
          </a:xfrm>
          <a:custGeom>
            <a:avLst/>
            <a:gdLst/>
            <a:ahLst/>
            <a:cxnLst/>
            <a:rect r="r" b="b" t="t" l="l"/>
            <a:pathLst>
              <a:path h="6458096" w="7286991">
                <a:moveTo>
                  <a:pt x="0" y="0"/>
                </a:moveTo>
                <a:lnTo>
                  <a:pt x="7286991" y="0"/>
                </a:lnTo>
                <a:lnTo>
                  <a:pt x="7286991" y="6458096"/>
                </a:lnTo>
                <a:lnTo>
                  <a:pt x="0" y="64580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3069" y="2047798"/>
            <a:ext cx="7277806" cy="6459052"/>
          </a:xfrm>
          <a:custGeom>
            <a:avLst/>
            <a:gdLst/>
            <a:ahLst/>
            <a:cxnLst/>
            <a:rect r="r" b="b" t="t" l="l"/>
            <a:pathLst>
              <a:path h="6459052" w="7277806">
                <a:moveTo>
                  <a:pt x="0" y="0"/>
                </a:moveTo>
                <a:lnTo>
                  <a:pt x="7277806" y="0"/>
                </a:lnTo>
                <a:lnTo>
                  <a:pt x="7277806" y="6459052"/>
                </a:lnTo>
                <a:lnTo>
                  <a:pt x="0" y="64590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4384" y="599709"/>
            <a:ext cx="140720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Model -3 (1D Convolutional Neural Network)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04381" y="8565341"/>
            <a:ext cx="2669009" cy="564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Validation Set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79233" y="8565341"/>
            <a:ext cx="2285479" cy="564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Training Set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42710" y="3369664"/>
            <a:ext cx="11402580" cy="318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9"/>
              </a:lnSpc>
              <a:spcBef>
                <a:spcPct val="0"/>
              </a:spcBef>
            </a:pPr>
            <a:r>
              <a:rPr lang="en-US" b="true" sz="18577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</a:t>
            </a:r>
          </a:p>
        </p:txBody>
      </p:sp>
      <p:sp>
        <p:nvSpPr>
          <p:cNvPr name="AutoShape 3" id="3"/>
          <p:cNvSpPr/>
          <p:nvPr/>
        </p:nvSpPr>
        <p:spPr>
          <a:xfrm>
            <a:off x="5897880" y="221508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04001" y="1116666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897880" y="815988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900840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DAGndEMvXNU</dc:identifier>
  <dcterms:modified xsi:type="dcterms:W3CDTF">2011-08-01T06:04:30Z</dcterms:modified>
  <cp:revision>1</cp:revision>
  <dc:title>Copy of Copy of White Blue Simple Modern Enhancing Sales Strategy Presentation</dc:title>
</cp:coreProperties>
</file>