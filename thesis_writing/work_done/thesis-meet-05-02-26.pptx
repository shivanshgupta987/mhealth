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257" r:id="rId4"/>
    <p:sldId id="270" r:id="rId5"/>
    <p:sldId id="259" r:id="rId6"/>
    <p:sldId id="269" r:id="rId7"/>
    <p:sldId id="272" r:id="rId8"/>
    <p:sldId id="263" r:id="rId9"/>
    <p:sldId id="277" r:id="rId10"/>
    <p:sldId id="278" r:id="rId11"/>
    <p:sldId id="265" r:id="rId12"/>
    <p:sldId id="27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1B64-C868-60AB-3EC8-3FA8C81CA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CE757-4DDB-23C3-6357-070201B4E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33D4-E598-EE75-C1DB-C62686BB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D777F-D562-D7AB-0CAD-D0AA04B7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4EF4-40DC-1AF8-A7C5-F75E52E2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9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D8FA-744E-5D28-58D2-EABD83F8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60BE-90A2-C290-5A3A-9298B0AE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29E68-456F-70E2-AE62-00F6E24A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1A3B-8E0B-316B-E1F5-BA5294B9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DD0B6-F94B-A933-643A-6DA71F77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8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1827-0A4B-1152-64E6-52223A89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2C30-E452-5DBD-9F4C-34729B17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77CDC-E3DB-D260-3174-A2CB1CB0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13CD-4B5D-C8BA-98D2-CEF91F42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96E7-9827-AEA1-6183-DF3B0B4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27A3-8FDF-F63B-C842-4E096244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C424-0BE6-B730-DE02-B064D4ACC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DFE85-B15F-61AD-5960-E0E53ABC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44C7E-7ADD-DFB7-7E7F-2B2FD1B1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8A123-8579-A09C-933C-34E4248E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D5C95-EE2E-4EC9-DCA3-AF6837FC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8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3060-D4D4-3ECD-D025-FF2FD279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BCED1-2CB8-1328-02DD-68901F673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0ED96-4699-EDD0-D72F-95481CF4C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14D61-D4C5-1B09-4069-BE20FD2BD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5B404-0ABA-7D60-2146-5B449870D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8B596-902C-38D9-50C1-7D8D8614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0F8B1-E1F1-38B9-F349-FEFF2D72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F3B72-3B15-F696-0CA7-20B5514B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085C-FECE-3E61-84B2-7B8F4F63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3B96C-C0D2-AD12-BB8D-FF07D09C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E9F98-0351-094F-0FEA-9461F052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1727D-E1F5-B66B-61A2-CB96140A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0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0014E-F117-C6DB-BDA7-79E8A6A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B9AC6-435F-D386-808A-428BCF75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524B-CCB7-EF3E-B878-A5972005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0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B17E-C081-366F-6848-3A49A81A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68E3-AC4A-A912-AC68-6059A386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A8B2-802E-6AB7-59D5-1E2ED70A8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60381-277B-5757-D360-42FD9DDA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CF5C-1914-DCD5-4F95-EEC88C87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7F8E3-EB48-2C42-AB75-C664D9C4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7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03CC-C57A-D625-2F3A-C7BAF31E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00D0D-062C-73F3-9062-D313A91AA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203F-BE92-C569-DB0C-65A8116C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07B59-4244-CB10-D50E-DED5B1F2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9017-A9FD-DA3B-D76D-CB0ED59D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58B6A-927C-1B2E-1E5E-B1232C0B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5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4C2-9D79-1385-9817-E0B2A460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9FB12-4E76-DD30-659B-67B958CA1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A875-3AE4-EC12-3DA1-8956A19C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EFF4-E4C2-A22C-83D5-4EBE075E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2FBF-1E17-09DC-9967-0E9FD28D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6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FE1CD-B1D7-B930-961D-7BA45B73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DCF9-1243-E3A9-DB04-19036027E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3262-00CC-9570-E3AC-B083F5AF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105BF-FAE0-4920-1779-E032850C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DCF2-6687-30AE-4ADE-2AC9224E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86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24FB8-5DA7-A57D-75E4-E2235AA0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544F2-401F-7993-4BB1-C62E8581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6345-FCF0-9DA8-DAB3-D924835B6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4E073-DC6F-4000-B5E9-F1F120F6E608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46F2-B882-6278-ECF9-2C2BABCD1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01AED-0C2D-2FE5-7C5E-B01EF6665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9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61700-C58A-5A13-810D-0276C7A6EB78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Mechanism for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Screening Individuals Vulnerable to Depression using Speech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05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-02-26</a:t>
            </a:r>
          </a:p>
        </p:txBody>
      </p:sp>
    </p:spTree>
    <p:extLst>
      <p:ext uri="{BB962C8B-B14F-4D97-AF65-F5344CB8AC3E}">
        <p14:creationId xmlns:p14="http://schemas.microsoft.com/office/powerpoint/2010/main" val="7473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93AAE-4003-B2F0-B17C-F0001A716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Improving speech depression detection using transfer learning with wav2vec 2.0 in low‑resource environments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D7B23-9464-6AE3-F222-8C5BF9A7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Authors  - </a:t>
            </a:r>
            <a:r>
              <a:rPr lang="en-IN"/>
              <a:t>Xu Zhang, Xiangcheng Zhang, Weisi Chen, Chenlong Li &amp; Chengyuan Yu </a:t>
            </a:r>
          </a:p>
        </p:txBody>
      </p:sp>
    </p:spTree>
    <p:extLst>
      <p:ext uri="{BB962C8B-B14F-4D97-AF65-F5344CB8AC3E}">
        <p14:creationId xmlns:p14="http://schemas.microsoft.com/office/powerpoint/2010/main" val="344994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AC282-D67F-2659-3A84-F8D20512D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Overview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B506A-6E6A-A147-D1DD-676EEF1F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To overcome shortage of samples, this paper introduces transfer learning approach by finetuning wav2vec 2.0 to obtain depression related feature. </a:t>
            </a:r>
          </a:p>
          <a:p>
            <a:r>
              <a:rPr lang="en-GB" sz="2000" dirty="0"/>
              <a:t> To capture temporal relationship within an audio frame, 1D-CNN and attention pooling is integrated which helps in capturing the advanced feature at segment level. </a:t>
            </a:r>
          </a:p>
          <a:p>
            <a:r>
              <a:rPr lang="en-GB" sz="2000" dirty="0"/>
              <a:t>For capturing temporal relationship among frames, we have integrated LSTM and integrated self-attention mechanism (for capturing dependencies among segments) to assign greater weights to segments associated with depression.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8018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63DE9-9C64-B09C-313F-6930F7C0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862061-6DA0-510B-FC68-3D7634077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33D80-82FA-0C99-4BF2-B43BC15F7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AC43F-5178-CF8C-BE23-173ECA22E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471E8-6D2D-9DFC-6AEA-A88051886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8AB13-3CF9-3D31-58D2-B737DAEE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374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DAIC (Distress Analysis Interview Corpus) Dataset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E2957B-0E65-AB92-30DC-9B2DD0A9C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Train set consist of 107 interviews 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30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77 non-depressed</a:t>
            </a:r>
          </a:p>
          <a:p>
            <a:r>
              <a:rPr lang="en-GB" sz="2000" dirty="0"/>
              <a:t>Dev set consist of 35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12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23 non-depressed</a:t>
            </a:r>
          </a:p>
          <a:p>
            <a:r>
              <a:rPr lang="en-GB" sz="2000" dirty="0"/>
              <a:t>Test set consist of 47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14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33 non-depressed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9980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79A13-8D95-A713-3E32-D7DDEB29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4C8F416-0DB1-F26B-15FC-9C6C17056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173" y="1805529"/>
            <a:ext cx="98755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8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DF77C-6872-74A5-6788-ADA38F9D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FEDB6C-F2B0-3CBD-72CE-07D1826EF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8E5015-D68E-7965-B13D-2C4869CBF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1EF99-1920-BA05-D2D1-589028027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2D437-AF5C-B78C-F818-493E05FC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D45C6-CCE6-1CE1-A058-74108B38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(continued)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F0E1D4-65AD-51F4-47AD-8A12AED57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076" y="1966293"/>
            <a:ext cx="856184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04688-02F6-5889-9E92-DC517CEF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C24BDA-E96B-B919-44C2-A880D5038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E7FFA-8AB4-425D-0C81-C3801094E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BBC8C-A7CF-E785-0D6F-B777B170B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E2E9AD-33DE-18D0-F67A-91CDA7762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52BAD-F7B5-3A14-730F-294AD387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DDBD0-9A95-DDCC-4F35-E6C19FC5E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finetuning of the wav2vec2.0 model, a small learning rate of 1e-5 is utilized.</a:t>
            </a:r>
          </a:p>
          <a:p>
            <a:r>
              <a:rPr lang="en-GB" dirty="0"/>
              <a:t>Adam optimizer with a weight decay of 0.001 and a learning rate of 0.006 is used for training the main model.</a:t>
            </a:r>
          </a:p>
          <a:p>
            <a:r>
              <a:rPr lang="en-GB" dirty="0"/>
              <a:t>Batch size: 32</a:t>
            </a:r>
          </a:p>
          <a:p>
            <a:r>
              <a:rPr lang="en-GB" dirty="0"/>
              <a:t>Training Epochs: 200</a:t>
            </a:r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97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3D66A-0E36-D4AE-F1C3-E96D104D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Results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AEC6232B-4EE1-C18B-D41E-5A50D2E80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973" y="1909011"/>
            <a:ext cx="3777659" cy="3603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D81A7C-288E-E0BA-8508-BF47F3D0F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173" y="1927710"/>
            <a:ext cx="3337293" cy="3302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12E17-7208-A367-B47F-3D6763E856E5}"/>
              </a:ext>
            </a:extLst>
          </p:cNvPr>
          <p:cNvSpPr txBox="1"/>
          <p:nvPr/>
        </p:nvSpPr>
        <p:spPr>
          <a:xfrm>
            <a:off x="1507958" y="5678905"/>
            <a:ext cx="3524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F1(D): 0.70 </a:t>
            </a:r>
          </a:p>
          <a:p>
            <a:pPr algn="ctr"/>
            <a:r>
              <a:rPr lang="en-GB" dirty="0"/>
              <a:t>F1(ND): 0.88</a:t>
            </a:r>
          </a:p>
          <a:p>
            <a:pPr algn="ctr"/>
            <a:r>
              <a:rPr lang="en-GB" dirty="0"/>
              <a:t>Macro F1: 0.79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B1330-1A8C-96D0-0EAE-681D95F7EAD1}"/>
              </a:ext>
            </a:extLst>
          </p:cNvPr>
          <p:cNvSpPr txBox="1"/>
          <p:nvPr/>
        </p:nvSpPr>
        <p:spPr>
          <a:xfrm>
            <a:off x="6970903" y="5617185"/>
            <a:ext cx="3301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F1(D): 0</a:t>
            </a:r>
          </a:p>
          <a:p>
            <a:pPr algn="ctr"/>
            <a:r>
              <a:rPr lang="en-GB" dirty="0"/>
              <a:t>F1(ND): 0.79</a:t>
            </a:r>
          </a:p>
          <a:p>
            <a:pPr algn="ctr"/>
            <a:r>
              <a:rPr lang="en-GB" dirty="0"/>
              <a:t>Macro F1 : 0.40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683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C5D23-9590-EB4F-A2E9-5A0191EB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B21A90-DB44-2A1C-1097-153632F6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ED4E29-FB76-AFA1-0326-D780563D5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B0BFFD-8BF7-FA22-7772-35855B7AE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7CA7F-7081-81C4-8BC6-CBA293EDC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A9A1F-9525-0B7E-0BE4-03DACD74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01050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Ablation Analysis (Comparison of fine-tuning strategies)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B2403-36F7-733B-4514-C6A225D6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23328"/>
            <a:ext cx="11327549" cy="37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0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BA6D6-8666-5529-AD64-1BFD2298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8F7995-9A10-85B2-2EBC-89241C5D3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9F8A2-0A67-5C18-C9D2-3D96EEDC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8D1FD-D5F2-6AB1-F08A-70E024541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682BF8-E1E1-10D4-5372-1D42016A2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BD09F-A98F-3C3F-D5EC-7C364BBF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931848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Ablation Analysis (Comparison with different pooling strategies)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7647106-546D-F8A4-776D-A6192E943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616" y="2033792"/>
            <a:ext cx="7225748" cy="44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0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8117F-2BA1-0139-450E-D48AD2CE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89251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Ablation Analysis (Comparison with and w/o self attention mechanism)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ED34E-2994-5E43-C6FC-9C4C2ABA3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88821"/>
            <a:ext cx="11327549" cy="24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8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42221-A48F-F50A-8376-F595FA56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DC3F455-9DB1-55B8-7DFB-0A0E5FA3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8C499-FE2E-1047-49FA-299C36885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A5C31-BBD4-6C34-DEAF-8582A118A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13A4BA-2D5E-FFAE-99CE-5C3BE4C63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330DA-24DB-ADDF-7666-E02423DD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784364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Ablation Analysis (Comparison of performance across different segment length)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E0E80F0-198C-8555-5EB3-24AB2DFC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96" y="2028192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2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E4DF0-8188-4474-80D5-43B3573A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17" name="Graphic 16" descr="Smiling Face with No Fill">
            <a:extLst>
              <a:ext uri="{FF2B5EF4-FFF2-40B4-BE49-F238E27FC236}">
                <a16:creationId xmlns:a16="http://schemas.microsoft.com/office/drawing/2014/main" id="{D00CD078-49FA-ED88-5C7C-50BC39182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2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287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Improving speech depression detection using transfer learning with wav2vec 2.0 in low‑resource environments</vt:lpstr>
      <vt:lpstr>Overview</vt:lpstr>
      <vt:lpstr>DAIC (Distress Analysis Interview Corpus) Dataset</vt:lpstr>
      <vt:lpstr>Methodology </vt:lpstr>
      <vt:lpstr>Methodology (continued)</vt:lpstr>
      <vt:lpstr>Experimental Settings</vt:lpstr>
      <vt:lpstr>Results</vt:lpstr>
      <vt:lpstr>Ablation Analysis (Comparison of fine-tuning strategies) </vt:lpstr>
      <vt:lpstr>Ablation Analysis (Comparison with different pooling strategies)</vt:lpstr>
      <vt:lpstr>Ablation Analysis (Comparison with and w/o self attention mechanism)</vt:lpstr>
      <vt:lpstr>Ablation Analysis (Comparison of performance across different segment length)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Gupta 24250086</dc:creator>
  <cp:lastModifiedBy>Shivansh Gupta 24250086</cp:lastModifiedBy>
  <cp:revision>8</cp:revision>
  <dcterms:created xsi:type="dcterms:W3CDTF">2026-01-23T05:25:57Z</dcterms:created>
  <dcterms:modified xsi:type="dcterms:W3CDTF">2026-02-05T08:56:22Z</dcterms:modified>
</cp:coreProperties>
</file>