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ormorant Garamond Bold Italics" charset="1" panose="00000800000000000000"/>
      <p:regular r:id="rId13"/>
    </p:embeddedFont>
    <p:embeddedFont>
      <p:font typeface="Quicksand" charset="1" panose="00000000000000000000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DepreechX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37050"/>
            <a:ext cx="12812922" cy="199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32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2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Tow</a:t>
            </a:r>
            <a:r>
              <a:rPr lang="en-US" sz="32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ards Interactive Systems for Interpretable Depression Screening via Speech</a:t>
            </a:r>
          </a:p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022544"/>
            <a:ext cx="6988496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27 March, 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3104868" y="4328171"/>
            <a:ext cx="886372" cy="192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>
            <a:off x="3094929" y="3287298"/>
            <a:ext cx="0" cy="10791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123918" y="6284399"/>
            <a:ext cx="0" cy="10791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124332" y="6274767"/>
            <a:ext cx="886372" cy="192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4222141" y="3748328"/>
            <a:ext cx="3143892" cy="1159685"/>
            <a:chOff x="0" y="0"/>
            <a:chExt cx="828021" cy="305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021" cy="305431"/>
            </a:xfrm>
            <a:custGeom>
              <a:avLst/>
              <a:gdLst/>
              <a:ahLst/>
              <a:cxnLst/>
              <a:rect r="r" b="b" t="t" l="l"/>
              <a:pathLst>
                <a:path h="305431" w="828021">
                  <a:moveTo>
                    <a:pt x="125589" y="0"/>
                  </a:moveTo>
                  <a:lnTo>
                    <a:pt x="702432" y="0"/>
                  </a:lnTo>
                  <a:cubicBezTo>
                    <a:pt x="735740" y="0"/>
                    <a:pt x="767684" y="13232"/>
                    <a:pt x="791237" y="36784"/>
                  </a:cubicBezTo>
                  <a:cubicBezTo>
                    <a:pt x="814789" y="60337"/>
                    <a:pt x="828021" y="92281"/>
                    <a:pt x="828021" y="125589"/>
                  </a:cubicBezTo>
                  <a:lnTo>
                    <a:pt x="828021" y="179843"/>
                  </a:lnTo>
                  <a:cubicBezTo>
                    <a:pt x="828021" y="213151"/>
                    <a:pt x="814789" y="245095"/>
                    <a:pt x="791237" y="268647"/>
                  </a:cubicBezTo>
                  <a:cubicBezTo>
                    <a:pt x="767684" y="292200"/>
                    <a:pt x="735740" y="305431"/>
                    <a:pt x="702432" y="305431"/>
                  </a:cubicBezTo>
                  <a:lnTo>
                    <a:pt x="125589" y="305431"/>
                  </a:lnTo>
                  <a:cubicBezTo>
                    <a:pt x="56228" y="305431"/>
                    <a:pt x="0" y="249203"/>
                    <a:pt x="0" y="179843"/>
                  </a:cubicBezTo>
                  <a:lnTo>
                    <a:pt x="0" y="125589"/>
                  </a:lnTo>
                  <a:cubicBezTo>
                    <a:pt x="0" y="92281"/>
                    <a:pt x="13232" y="60337"/>
                    <a:pt x="36784" y="36784"/>
                  </a:cubicBezTo>
                  <a:cubicBezTo>
                    <a:pt x="60337" y="13232"/>
                    <a:pt x="92281" y="0"/>
                    <a:pt x="125589" y="0"/>
                  </a:cubicBezTo>
                  <a:close/>
                </a:path>
              </a:pathLst>
            </a:custGeom>
            <a:solidFill>
              <a:srgbClr val="7CD6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021" cy="34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CNN Layer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Domain Driven CNN-based Model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384" y="2251094"/>
            <a:ext cx="416014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Mel Spectrogram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4821" y="7268331"/>
            <a:ext cx="537926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Pause Histogram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22141" y="5714189"/>
            <a:ext cx="3143892" cy="1159685"/>
            <a:chOff x="0" y="0"/>
            <a:chExt cx="828021" cy="3054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8021" cy="305431"/>
            </a:xfrm>
            <a:custGeom>
              <a:avLst/>
              <a:gdLst/>
              <a:ahLst/>
              <a:cxnLst/>
              <a:rect r="r" b="b" t="t" l="l"/>
              <a:pathLst>
                <a:path h="305431" w="828021">
                  <a:moveTo>
                    <a:pt x="125589" y="0"/>
                  </a:moveTo>
                  <a:lnTo>
                    <a:pt x="702432" y="0"/>
                  </a:lnTo>
                  <a:cubicBezTo>
                    <a:pt x="735740" y="0"/>
                    <a:pt x="767684" y="13232"/>
                    <a:pt x="791237" y="36784"/>
                  </a:cubicBezTo>
                  <a:cubicBezTo>
                    <a:pt x="814789" y="60337"/>
                    <a:pt x="828021" y="92281"/>
                    <a:pt x="828021" y="125589"/>
                  </a:cubicBezTo>
                  <a:lnTo>
                    <a:pt x="828021" y="179843"/>
                  </a:lnTo>
                  <a:cubicBezTo>
                    <a:pt x="828021" y="213151"/>
                    <a:pt x="814789" y="245095"/>
                    <a:pt x="791237" y="268647"/>
                  </a:cubicBezTo>
                  <a:cubicBezTo>
                    <a:pt x="767684" y="292200"/>
                    <a:pt x="735740" y="305431"/>
                    <a:pt x="702432" y="305431"/>
                  </a:cubicBezTo>
                  <a:lnTo>
                    <a:pt x="125589" y="305431"/>
                  </a:lnTo>
                  <a:cubicBezTo>
                    <a:pt x="56228" y="305431"/>
                    <a:pt x="0" y="249203"/>
                    <a:pt x="0" y="179843"/>
                  </a:cubicBezTo>
                  <a:lnTo>
                    <a:pt x="0" y="125589"/>
                  </a:lnTo>
                  <a:cubicBezTo>
                    <a:pt x="0" y="92281"/>
                    <a:pt x="13232" y="60337"/>
                    <a:pt x="36784" y="36784"/>
                  </a:cubicBezTo>
                  <a:cubicBezTo>
                    <a:pt x="60337" y="13232"/>
                    <a:pt x="92281" y="0"/>
                    <a:pt x="125589" y="0"/>
                  </a:cubicBezTo>
                  <a:close/>
                </a:path>
              </a:pathLst>
            </a:custGeom>
            <a:solidFill>
              <a:srgbClr val="7CD6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8021" cy="34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CNN Layer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7756736" y="4318646"/>
            <a:ext cx="111764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883908" y="4318492"/>
            <a:ext cx="0" cy="58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H="true">
            <a:off x="7756736" y="6313081"/>
            <a:ext cx="111764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8883908" y="5723406"/>
            <a:ext cx="0" cy="58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7504603" y="5034538"/>
            <a:ext cx="2758609" cy="562496"/>
            <a:chOff x="0" y="0"/>
            <a:chExt cx="726547" cy="1481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6547" cy="148147"/>
            </a:xfrm>
            <a:custGeom>
              <a:avLst/>
              <a:gdLst/>
              <a:ahLst/>
              <a:cxnLst/>
              <a:rect r="r" b="b" t="t" l="l"/>
              <a:pathLst>
                <a:path h="148147" w="726547">
                  <a:moveTo>
                    <a:pt x="74074" y="0"/>
                  </a:moveTo>
                  <a:lnTo>
                    <a:pt x="652474" y="0"/>
                  </a:lnTo>
                  <a:cubicBezTo>
                    <a:pt x="672119" y="0"/>
                    <a:pt x="690960" y="7804"/>
                    <a:pt x="704852" y="21696"/>
                  </a:cubicBezTo>
                  <a:cubicBezTo>
                    <a:pt x="718743" y="35587"/>
                    <a:pt x="726547" y="54428"/>
                    <a:pt x="726547" y="74074"/>
                  </a:cubicBezTo>
                  <a:lnTo>
                    <a:pt x="726547" y="74074"/>
                  </a:lnTo>
                  <a:cubicBezTo>
                    <a:pt x="726547" y="93719"/>
                    <a:pt x="718743" y="112560"/>
                    <a:pt x="704852" y="126452"/>
                  </a:cubicBezTo>
                  <a:cubicBezTo>
                    <a:pt x="690960" y="140343"/>
                    <a:pt x="672119" y="148147"/>
                    <a:pt x="652474" y="148147"/>
                  </a:cubicBezTo>
                  <a:lnTo>
                    <a:pt x="74074" y="148147"/>
                  </a:lnTo>
                  <a:cubicBezTo>
                    <a:pt x="54428" y="148147"/>
                    <a:pt x="35587" y="140343"/>
                    <a:pt x="21696" y="126452"/>
                  </a:cubicBezTo>
                  <a:cubicBezTo>
                    <a:pt x="7804" y="112560"/>
                    <a:pt x="0" y="93719"/>
                    <a:pt x="0" y="74074"/>
                  </a:cubicBezTo>
                  <a:lnTo>
                    <a:pt x="0" y="74074"/>
                  </a:lnTo>
                  <a:cubicBezTo>
                    <a:pt x="0" y="54428"/>
                    <a:pt x="7804" y="35587"/>
                    <a:pt x="21696" y="21696"/>
                  </a:cubicBezTo>
                  <a:cubicBezTo>
                    <a:pt x="35587" y="7804"/>
                    <a:pt x="54428" y="0"/>
                    <a:pt x="74074" y="0"/>
                  </a:cubicBezTo>
                  <a:close/>
                </a:path>
              </a:pathLst>
            </a:custGeom>
            <a:solidFill>
              <a:srgbClr val="7CD6E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26547" cy="186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Concatenate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10197" y="4662628"/>
            <a:ext cx="3143892" cy="1159685"/>
            <a:chOff x="0" y="0"/>
            <a:chExt cx="828021" cy="3054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8021" cy="305431"/>
            </a:xfrm>
            <a:custGeom>
              <a:avLst/>
              <a:gdLst/>
              <a:ahLst/>
              <a:cxnLst/>
              <a:rect r="r" b="b" t="t" l="l"/>
              <a:pathLst>
                <a:path h="305431" w="828021">
                  <a:moveTo>
                    <a:pt x="125589" y="0"/>
                  </a:moveTo>
                  <a:lnTo>
                    <a:pt x="702432" y="0"/>
                  </a:lnTo>
                  <a:cubicBezTo>
                    <a:pt x="735740" y="0"/>
                    <a:pt x="767684" y="13232"/>
                    <a:pt x="791237" y="36784"/>
                  </a:cubicBezTo>
                  <a:cubicBezTo>
                    <a:pt x="814789" y="60337"/>
                    <a:pt x="828021" y="92281"/>
                    <a:pt x="828021" y="125589"/>
                  </a:cubicBezTo>
                  <a:lnTo>
                    <a:pt x="828021" y="179843"/>
                  </a:lnTo>
                  <a:cubicBezTo>
                    <a:pt x="828021" y="213151"/>
                    <a:pt x="814789" y="245095"/>
                    <a:pt x="791237" y="268647"/>
                  </a:cubicBezTo>
                  <a:cubicBezTo>
                    <a:pt x="767684" y="292200"/>
                    <a:pt x="735740" y="305431"/>
                    <a:pt x="702432" y="305431"/>
                  </a:cubicBezTo>
                  <a:lnTo>
                    <a:pt x="125589" y="305431"/>
                  </a:lnTo>
                  <a:cubicBezTo>
                    <a:pt x="56228" y="305431"/>
                    <a:pt x="0" y="249203"/>
                    <a:pt x="0" y="179843"/>
                  </a:cubicBezTo>
                  <a:lnTo>
                    <a:pt x="0" y="125589"/>
                  </a:lnTo>
                  <a:cubicBezTo>
                    <a:pt x="0" y="92281"/>
                    <a:pt x="13232" y="60337"/>
                    <a:pt x="36784" y="36784"/>
                  </a:cubicBezTo>
                  <a:cubicBezTo>
                    <a:pt x="60337" y="13232"/>
                    <a:pt x="92281" y="0"/>
                    <a:pt x="125589" y="0"/>
                  </a:cubicBezTo>
                  <a:close/>
                </a:path>
              </a:pathLst>
            </a:custGeom>
            <a:solidFill>
              <a:srgbClr val="7CD6E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8021" cy="34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CNN Layer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29245" y="7742993"/>
            <a:ext cx="3143892" cy="1159685"/>
            <a:chOff x="0" y="0"/>
            <a:chExt cx="828021" cy="3054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8021" cy="305431"/>
            </a:xfrm>
            <a:custGeom>
              <a:avLst/>
              <a:gdLst/>
              <a:ahLst/>
              <a:cxnLst/>
              <a:rect r="r" b="b" t="t" l="l"/>
              <a:pathLst>
                <a:path h="305431" w="828021">
                  <a:moveTo>
                    <a:pt x="125589" y="0"/>
                  </a:moveTo>
                  <a:lnTo>
                    <a:pt x="702432" y="0"/>
                  </a:lnTo>
                  <a:cubicBezTo>
                    <a:pt x="735740" y="0"/>
                    <a:pt x="767684" y="13232"/>
                    <a:pt x="791237" y="36784"/>
                  </a:cubicBezTo>
                  <a:cubicBezTo>
                    <a:pt x="814789" y="60337"/>
                    <a:pt x="828021" y="92281"/>
                    <a:pt x="828021" y="125589"/>
                  </a:cubicBezTo>
                  <a:lnTo>
                    <a:pt x="828021" y="179843"/>
                  </a:lnTo>
                  <a:cubicBezTo>
                    <a:pt x="828021" y="213151"/>
                    <a:pt x="814789" y="245095"/>
                    <a:pt x="791237" y="268647"/>
                  </a:cubicBezTo>
                  <a:cubicBezTo>
                    <a:pt x="767684" y="292200"/>
                    <a:pt x="735740" y="305431"/>
                    <a:pt x="702432" y="305431"/>
                  </a:cubicBezTo>
                  <a:lnTo>
                    <a:pt x="125589" y="305431"/>
                  </a:lnTo>
                  <a:cubicBezTo>
                    <a:pt x="56228" y="305431"/>
                    <a:pt x="0" y="249203"/>
                    <a:pt x="0" y="179843"/>
                  </a:cubicBezTo>
                  <a:lnTo>
                    <a:pt x="0" y="125589"/>
                  </a:lnTo>
                  <a:cubicBezTo>
                    <a:pt x="0" y="92281"/>
                    <a:pt x="13232" y="60337"/>
                    <a:pt x="36784" y="36784"/>
                  </a:cubicBezTo>
                  <a:cubicBezTo>
                    <a:pt x="60337" y="13232"/>
                    <a:pt x="92281" y="0"/>
                    <a:pt x="125589" y="0"/>
                  </a:cubicBezTo>
                  <a:close/>
                </a:path>
              </a:pathLst>
            </a:custGeom>
            <a:solidFill>
              <a:srgbClr val="7CD6E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8021" cy="34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Mean pooling and FC layer 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14163093" y="6208485"/>
            <a:ext cx="19050" cy="11483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7504603" y="7791023"/>
            <a:ext cx="416014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Logits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10679203" y="5315786"/>
            <a:ext cx="1464423" cy="96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H="true">
            <a:off x="10679203" y="8341886"/>
            <a:ext cx="14644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529" y="1926415"/>
            <a:ext cx="7478637" cy="6625930"/>
          </a:xfrm>
          <a:custGeom>
            <a:avLst/>
            <a:gdLst/>
            <a:ahLst/>
            <a:cxnLst/>
            <a:rect r="r" b="b" t="t" l="l"/>
            <a:pathLst>
              <a:path h="6625930" w="7478637">
                <a:moveTo>
                  <a:pt x="0" y="0"/>
                </a:moveTo>
                <a:lnTo>
                  <a:pt x="7478637" y="0"/>
                </a:lnTo>
                <a:lnTo>
                  <a:pt x="7478637" y="6625930"/>
                </a:lnTo>
                <a:lnTo>
                  <a:pt x="0" y="6625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9" t="-1320" r="-54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93745" y="1990197"/>
            <a:ext cx="7617354" cy="6562147"/>
          </a:xfrm>
          <a:custGeom>
            <a:avLst/>
            <a:gdLst/>
            <a:ahLst/>
            <a:cxnLst/>
            <a:rect r="r" b="b" t="t" l="l"/>
            <a:pathLst>
              <a:path h="6562147" w="7617354">
                <a:moveTo>
                  <a:pt x="0" y="0"/>
                </a:moveTo>
                <a:lnTo>
                  <a:pt x="7617353" y="0"/>
                </a:lnTo>
                <a:lnTo>
                  <a:pt x="7617353" y="6562148"/>
                </a:lnTo>
                <a:lnTo>
                  <a:pt x="0" y="6562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67" t="-1682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6778" y="8566371"/>
            <a:ext cx="416014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22352" y="8566371"/>
            <a:ext cx="416014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Training Set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284863"/>
            <a:ext cx="8115300" cy="4420233"/>
          </a:xfrm>
          <a:custGeom>
            <a:avLst/>
            <a:gdLst/>
            <a:ahLst/>
            <a:cxnLst/>
            <a:rect r="r" b="b" t="t" l="l"/>
            <a:pathLst>
              <a:path h="4420233" w="8115300">
                <a:moveTo>
                  <a:pt x="0" y="0"/>
                </a:moveTo>
                <a:lnTo>
                  <a:pt x="8115300" y="0"/>
                </a:lnTo>
                <a:lnTo>
                  <a:pt x="8115300" y="4420232"/>
                </a:lnTo>
                <a:lnTo>
                  <a:pt x="0" y="4420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74" t="-3873" r="-4170" b="-38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Collection Plan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9509" y="2199138"/>
            <a:ext cx="7719423" cy="395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269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 collection from 50 users.</a:t>
            </a:r>
          </a:p>
          <a:p>
            <a:pPr algn="l" marL="659269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 minutes of data recording per emotion per user.</a:t>
            </a:r>
          </a:p>
          <a:p>
            <a:pPr algn="just" marL="659269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 12 minutes of speech data per user.</a:t>
            </a:r>
          </a:p>
          <a:p>
            <a:pPr algn="just" marL="659269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Plan</a:t>
            </a: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 have 10 hrs of total audio data.</a:t>
            </a:r>
          </a:p>
          <a:p>
            <a:pPr algn="just">
              <a:lnSpc>
                <a:spcPts val="45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Collection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9509" y="2199138"/>
            <a:ext cx="15534076" cy="45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Demographic data collection factor </a:t>
            </a:r>
          </a:p>
          <a:p>
            <a:pPr algn="l" marL="659270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Gender ( 25 Boys + 25 Girls)</a:t>
            </a:r>
          </a:p>
          <a:p>
            <a:pPr algn="l" marL="659270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Regional ( </a:t>
            </a:r>
          </a:p>
          <a:p>
            <a:pPr algn="l">
              <a:lnSpc>
                <a:spcPts val="4549"/>
              </a:lnSpc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        One way → 10 Hindi + 10 English + 10 Gujrati + 10 Tamil + 10 other some language</a:t>
            </a:r>
          </a:p>
          <a:p>
            <a:pPr algn="l">
              <a:lnSpc>
                <a:spcPts val="4549"/>
              </a:lnSpc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        Another way → 25 Hindi + 25 English )</a:t>
            </a:r>
          </a:p>
          <a:p>
            <a:pPr algn="l">
              <a:lnSpc>
                <a:spcPts val="4549"/>
              </a:lnSpc>
            </a:pPr>
          </a:p>
          <a:p>
            <a:pPr algn="l">
              <a:lnSpc>
                <a:spcPts val="4549"/>
              </a:lnSpc>
            </a:pPr>
          </a:p>
          <a:p>
            <a:pPr algn="l">
              <a:lnSpc>
                <a:spcPts val="454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Collection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9509" y="2199138"/>
            <a:ext cx="15534076" cy="340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270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Script for different emotions will be given in advance to speak. (or)</a:t>
            </a:r>
          </a:p>
          <a:p>
            <a:pPr algn="l" marL="659270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Provide questions in advance and ask the speaker to simulate specific emotions in their responses. </a:t>
            </a:r>
          </a:p>
          <a:p>
            <a:pPr algn="l" marL="659270" indent="-329635" lvl="1">
              <a:lnSpc>
                <a:spcPts val="4549"/>
              </a:lnSpc>
              <a:buFont typeface="Arial"/>
              <a:buChar char="•"/>
            </a:pPr>
            <a:r>
              <a:rPr lang="en-US" sz="30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 augmentation by introducing environmental sounds, time stretching, and fundamental frequency.</a:t>
            </a:r>
          </a:p>
          <a:p>
            <a:pPr algn="l">
              <a:lnSpc>
                <a:spcPts val="454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DAGi1o87ui8</dc:identifier>
  <dcterms:modified xsi:type="dcterms:W3CDTF">2011-08-01T06:04:30Z</dcterms:modified>
  <cp:revision>1</cp:revision>
  <dc:title>White Blue Simple Modern Enhancing Sales Strategy Presentation</dc:title>
</cp:coreProperties>
</file>