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59" r:id="rId4"/>
    <p:sldId id="280" r:id="rId5"/>
    <p:sldId id="281" r:id="rId6"/>
    <p:sldId id="282" r:id="rId7"/>
    <p:sldId id="283" r:id="rId8"/>
    <p:sldId id="277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1B64-C868-60AB-3EC8-3FA8C81CA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CE757-4DDB-23C3-6357-070201B4E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33D4-E598-EE75-C1DB-C62686BB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D777F-D562-D7AB-0CAD-D0AA04B7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4EF4-40DC-1AF8-A7C5-F75E52E2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69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D8FA-744E-5D28-58D2-EABD83F8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60BE-90A2-C290-5A3A-9298B0AE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29E68-456F-70E2-AE62-00F6E24A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1A3B-8E0B-316B-E1F5-BA5294B9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DD0B6-F94B-A933-643A-6DA71F77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8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1827-0A4B-1152-64E6-52223A89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2C30-E452-5DBD-9F4C-34729B17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77CDC-E3DB-D260-3174-A2CB1CB0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13CD-4B5D-C8BA-98D2-CEF91F42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96E7-9827-AEA1-6183-DF3B0B4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27A3-8FDF-F63B-C842-4E0962442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C424-0BE6-B730-DE02-B064D4ACC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DFE85-B15F-61AD-5960-E0E53ABC4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44C7E-7ADD-DFB7-7E7F-2B2FD1B1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8A123-8579-A09C-933C-34E4248E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D5C95-EE2E-4EC9-DCA3-AF6837FC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8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3060-D4D4-3ECD-D025-FF2FD279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BCED1-2CB8-1328-02DD-68901F673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0ED96-4699-EDD0-D72F-95481CF4C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14D61-D4C5-1B09-4069-BE20FD2BD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5B404-0ABA-7D60-2146-5B449870D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8B596-902C-38D9-50C1-7D8D8614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0F8B1-E1F1-38B9-F349-FEFF2D72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F3B72-3B15-F696-0CA7-20B5514B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085C-FECE-3E61-84B2-7B8F4F63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3B96C-C0D2-AD12-BB8D-FF07D09C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E9F98-0351-094F-0FEA-9461F052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1727D-E1F5-B66B-61A2-CB96140A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0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0014E-F117-C6DB-BDA7-79E8A6A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B9AC6-435F-D386-808A-428BCF75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524B-CCB7-EF3E-B878-A5972005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0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B17E-C081-366F-6848-3A49A81A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868E3-AC4A-A912-AC68-6059A386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A8B2-802E-6AB7-59D5-1E2ED70A8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60381-277B-5757-D360-42FD9DDA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8CF5C-1914-DCD5-4F95-EEC88C87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7F8E3-EB48-2C42-AB75-C664D9C4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7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03CC-C57A-D625-2F3A-C7BAF31E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00D0D-062C-73F3-9062-D313A91AA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203F-BE92-C569-DB0C-65A8116C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07B59-4244-CB10-D50E-DED5B1F2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9017-A9FD-DA3B-D76D-CB0ED59D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58B6A-927C-1B2E-1E5E-B1232C0B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5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74C2-9D79-1385-9817-E0B2A460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9FB12-4E76-DD30-659B-67B958CA1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A875-3AE4-EC12-3DA1-8956A19C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EFF4-E4C2-A22C-83D5-4EBE075E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2FBF-1E17-09DC-9967-0E9FD28D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26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FE1CD-B1D7-B930-961D-7BA45B73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DCF9-1243-E3A9-DB04-19036027E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3262-00CC-9570-E3AC-B083F5AF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105BF-FAE0-4920-1779-E032850C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BDCF2-6687-30AE-4ADE-2AC9224E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86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24FB8-5DA7-A57D-75E4-E2235AA0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544F2-401F-7993-4BB1-C62E8581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6345-FCF0-9DA8-DAB3-D924835B6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4E073-DC6F-4000-B5E9-F1F120F6E60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C46F2-B882-6278-ECF9-2C2BABCD1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01AED-0C2D-2FE5-7C5E-B01EF6665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6EFE5-C7DD-48C5-9D1B-F235199F9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9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61700-C58A-5A13-810D-0276C7A6EB78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Mechanism for 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Screening Individuals Vulnerable to Depression using Speech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09-04-26</a:t>
            </a:r>
          </a:p>
        </p:txBody>
      </p:sp>
    </p:spTree>
    <p:extLst>
      <p:ext uri="{BB962C8B-B14F-4D97-AF65-F5344CB8AC3E}">
        <p14:creationId xmlns:p14="http://schemas.microsoft.com/office/powerpoint/2010/main" val="7473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63DE9-9C64-B09C-313F-6930F7C0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862061-6DA0-510B-FC68-3D7634077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33D80-82FA-0C99-4BF2-B43BC15F7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AC43F-5178-CF8C-BE23-173ECA22E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471E8-6D2D-9DFC-6AEA-A88051886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8AB13-3CF9-3D31-58D2-B737DAEE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374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DAIC (Distress Analysis Interview Corpus) Dataset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E2957B-0E65-AB92-30DC-9B2DD0A9C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Train set consist of 107 interviews 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30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77 non-depressed</a:t>
            </a:r>
          </a:p>
          <a:p>
            <a:r>
              <a:rPr lang="en-GB" sz="2000" dirty="0"/>
              <a:t>Dev set consist of 35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12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23 non-depressed</a:t>
            </a:r>
          </a:p>
          <a:p>
            <a:r>
              <a:rPr lang="en-GB" sz="2000" dirty="0"/>
              <a:t>Test set consist of 47 interviews-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14 depressed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33 non-depressed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9980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79A13-8D95-A713-3E32-D7DDEB29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72F1C-A21D-AC61-60E4-5D0E7449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Pre-processed the audio sample by extracting participant’s speech data and silence removal.</a:t>
            </a:r>
          </a:p>
          <a:p>
            <a:r>
              <a:rPr lang="en-GB" dirty="0"/>
              <a:t>Used TSFEL library to extract 156 features per segment. Then we vertically stacked 4 different aggregations(mean, max, min, std). So, total 156*4 = 624 features per segment.</a:t>
            </a:r>
          </a:p>
          <a:p>
            <a:r>
              <a:rPr lang="en-GB" dirty="0"/>
              <a:t>Further used random forest classifier with 200 decision trees to train the model.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88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1B106-86BF-583F-D9DF-C3626A65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059EBE-0B70-3332-46AE-8146F3AE5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08AFC-1230-64AF-BCE7-69DE8A4F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82F6DA-1D7E-7CF9-5248-7BA178A9E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C22F56-BB19-241C-7068-701D3B7CB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514DB-C8E0-01AB-11AB-39CA1CB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(each segment is treated as a single sample)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F9869-37CA-3C24-588D-143E2A767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Threshold : 0.3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36FF46-B109-1D60-D5ED-3189AE17C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21439"/>
              </p:ext>
            </p:extLst>
          </p:nvPr>
        </p:nvGraphicFramePr>
        <p:xfrm>
          <a:off x="1914012" y="2459976"/>
          <a:ext cx="8313732" cy="34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33">
                  <a:extLst>
                    <a:ext uri="{9D8B030D-6E8A-4147-A177-3AD203B41FA5}">
                      <a16:colId xmlns:a16="http://schemas.microsoft.com/office/drawing/2014/main" val="847363261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203322768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141875919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571370429"/>
                    </a:ext>
                  </a:extLst>
                </a:gridCol>
              </a:tblGrid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Segment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Train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 F1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5143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3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09365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5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367750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7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31511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9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99727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11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3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2ACB1-1FD5-2FDE-DF6A-DBD784BE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2E723F-9055-2CA3-7D14-482360065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46377-9A10-E689-4216-74370CB0B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97522-83E3-FC19-57C1-6936A5573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74C27-F774-AF85-B320-B63A1351A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98D71-F789-56B4-0ED5-E28BDA90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(each segment is treated as a single sample)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7E3A7-ABEA-C471-F57C-7DD65FC9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Threshold : 0.4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88BC5-76F6-BA2B-791F-189BA8B50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33961"/>
              </p:ext>
            </p:extLst>
          </p:nvPr>
        </p:nvGraphicFramePr>
        <p:xfrm>
          <a:off x="1914012" y="2459976"/>
          <a:ext cx="8313732" cy="34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33">
                  <a:extLst>
                    <a:ext uri="{9D8B030D-6E8A-4147-A177-3AD203B41FA5}">
                      <a16:colId xmlns:a16="http://schemas.microsoft.com/office/drawing/2014/main" val="847363261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203322768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141875919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571370429"/>
                    </a:ext>
                  </a:extLst>
                </a:gridCol>
              </a:tblGrid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Segment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Train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 F1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5143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3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09365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5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367750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7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31511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9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99727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11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81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D6021-4CCA-9AED-23AC-09501454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6B8EF2-5253-3F9B-54A5-185F0C9A6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A4F7B-9E5C-7496-CB88-A43696456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ADF7C-C4B6-E783-B4BA-BA8ADC2F9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F9C528-DA87-43B0-2E16-331F7CD4F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FBCA7-C520-9821-DD68-A2960BA2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(each segment is treated as a single sample)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214A3-586B-0FDE-E661-4C551DF95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Threshold : 0.5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9C94C-E928-47FB-49F3-0BB39C603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76814"/>
              </p:ext>
            </p:extLst>
          </p:nvPr>
        </p:nvGraphicFramePr>
        <p:xfrm>
          <a:off x="1914012" y="2459976"/>
          <a:ext cx="8313732" cy="34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33">
                  <a:extLst>
                    <a:ext uri="{9D8B030D-6E8A-4147-A177-3AD203B41FA5}">
                      <a16:colId xmlns:a16="http://schemas.microsoft.com/office/drawing/2014/main" val="847363261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203322768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141875919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571370429"/>
                    </a:ext>
                  </a:extLst>
                </a:gridCol>
              </a:tblGrid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Segment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Train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 F1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5143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3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09365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5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367750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7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31511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9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99727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11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48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43726-D6B7-2CE1-6F2A-F31C90EE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DF522C-F9F8-D20C-48A4-BA82E4982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E0F73-835B-386C-7938-5456A1C03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AA720-51C7-388E-DCB3-BF3B4764D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BC273D-4646-F2A9-69E1-4EE12104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FBFF3-9EDA-1E95-6B58-4A499B9F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(each segment is treated as a single sample)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6439F-1349-0F75-8EBD-57323227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Threshold : 0.6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2DC895-78F6-E530-8D92-2FF1E5DBC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10435"/>
              </p:ext>
            </p:extLst>
          </p:nvPr>
        </p:nvGraphicFramePr>
        <p:xfrm>
          <a:off x="1914012" y="2459976"/>
          <a:ext cx="8313732" cy="34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33">
                  <a:extLst>
                    <a:ext uri="{9D8B030D-6E8A-4147-A177-3AD203B41FA5}">
                      <a16:colId xmlns:a16="http://schemas.microsoft.com/office/drawing/2014/main" val="847363261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203322768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141875919"/>
                    </a:ext>
                  </a:extLst>
                </a:gridCol>
                <a:gridCol w="2078433">
                  <a:extLst>
                    <a:ext uri="{9D8B030D-6E8A-4147-A177-3AD203B41FA5}">
                      <a16:colId xmlns:a16="http://schemas.microsoft.com/office/drawing/2014/main" val="3571370429"/>
                    </a:ext>
                  </a:extLst>
                </a:gridCol>
              </a:tblGrid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Segment Length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Train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 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 F1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5143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3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09365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5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367750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7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31511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9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99727"/>
                  </a:ext>
                </a:extLst>
              </a:tr>
              <a:tr h="567335">
                <a:tc>
                  <a:txBody>
                    <a:bodyPr/>
                    <a:lstStyle/>
                    <a:p>
                      <a:r>
                        <a:rPr lang="en-GB" dirty="0"/>
                        <a:t>11 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0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41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4F4FB-F4C5-1CF0-6239-FBAE3844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03EF1B-C161-9CDB-0E35-6207B4351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7C088A-256C-E705-4229-9DDFDB6C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70EF5C-CDB7-442F-2114-6FC1C994D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3FA7EE-71CC-CC88-CC1F-BE31C80C0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5743B-825B-EFFE-D0A7-5901953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3sec)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7DC484-A985-2892-0BF9-D9E1431E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03" y="2289807"/>
            <a:ext cx="4605927" cy="32562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DFA169-E293-07CF-2DAF-378F2A6D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478" y="2261609"/>
            <a:ext cx="4868902" cy="33741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50AD443-CF16-1C9C-2156-462654B21114}"/>
              </a:ext>
            </a:extLst>
          </p:cNvPr>
          <p:cNvSpPr txBox="1"/>
          <p:nvPr/>
        </p:nvSpPr>
        <p:spPr>
          <a:xfrm>
            <a:off x="2123768" y="5614218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0.3, F1: 0.321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90850-9A02-8965-7452-797405BEA452}"/>
              </a:ext>
            </a:extLst>
          </p:cNvPr>
          <p:cNvSpPr txBox="1"/>
          <p:nvPr/>
        </p:nvSpPr>
        <p:spPr>
          <a:xfrm>
            <a:off x="7585587" y="5599470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0.4, F1: 0.336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4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7791A-7F17-B8FD-239E-72A3D094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A55A48-DCE1-6D89-F639-49ABA174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C2161E-BD72-D0FC-BA31-A8C0E7A86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F54600-46DF-4D37-AB97-AB83A9005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214D12-585E-1948-A18D-C1917366D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934E-FCE5-4CBA-7C1E-0A72C62A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3sec)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8A89D-BCF2-F477-D075-2F06F4364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15" y="2049420"/>
            <a:ext cx="4785775" cy="3482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109C31-42D6-52A3-02ED-2863B497CAAB}"/>
              </a:ext>
            </a:extLst>
          </p:cNvPr>
          <p:cNvSpPr txBox="1"/>
          <p:nvPr/>
        </p:nvSpPr>
        <p:spPr>
          <a:xfrm>
            <a:off x="2441750" y="5566787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0.5, F1: 0.286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E45BDF-0A2C-8E09-19E1-F574D719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390" y="1995368"/>
            <a:ext cx="4854361" cy="34902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EBF1EE-A517-96F8-27DA-C6B955D0C14D}"/>
              </a:ext>
            </a:extLst>
          </p:cNvPr>
          <p:cNvSpPr txBox="1"/>
          <p:nvPr/>
        </p:nvSpPr>
        <p:spPr>
          <a:xfrm>
            <a:off x="7737232" y="5528269"/>
            <a:ext cx="3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0.6, F1: 0.177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6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14533-F7A9-7038-8833-CA84760B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878E6C-6D84-B620-4CE5-E6F0CCF41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95394-2DA8-EAC5-E6A4-4C3953EAF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BCDBEF-5E46-72EB-6F18-628F41045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44E91-BFC5-E537-8776-4202E0E70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B044C-3175-BEDF-7FEB-C64430E9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5sec)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796B1-885B-47E7-D5B2-A49BFB05E2B7}"/>
              </a:ext>
            </a:extLst>
          </p:cNvPr>
          <p:cNvSpPr txBox="1"/>
          <p:nvPr/>
        </p:nvSpPr>
        <p:spPr>
          <a:xfrm>
            <a:off x="2381459" y="5536642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0.3, F1: 0.322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2D170-2219-8B53-14E8-86EE3613F690}"/>
              </a:ext>
            </a:extLst>
          </p:cNvPr>
          <p:cNvSpPr txBox="1"/>
          <p:nvPr/>
        </p:nvSpPr>
        <p:spPr>
          <a:xfrm>
            <a:off x="7516167" y="5528268"/>
            <a:ext cx="31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0.4, F1: 0.339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F9980-1DA0-2C60-80F3-B1E56776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52" y="2138810"/>
            <a:ext cx="4816257" cy="3444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5472A-61EA-D2C9-E49A-9DFD10A44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481" y="2079565"/>
            <a:ext cx="4740051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18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ADAE1-29BC-820A-2DC5-CF9C8152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6F23FD-771A-0D91-7AF2-431B67095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16A3F4-39B3-E1CD-B18E-054009636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E61B7-9B3E-541E-6BF5-5B0550965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319A0-740E-8EF6-08B8-C20BA3A2D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4EB44-C751-D1F9-1EF1-74398111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5sec)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355F3-7ED3-DAFD-CA67-CE7CAA00B969}"/>
              </a:ext>
            </a:extLst>
          </p:cNvPr>
          <p:cNvSpPr txBox="1"/>
          <p:nvPr/>
        </p:nvSpPr>
        <p:spPr>
          <a:xfrm>
            <a:off x="2441750" y="5566787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0.5, F1: 0.304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9CD3A-B8FB-D63F-C4BA-84D826D6D4F3}"/>
              </a:ext>
            </a:extLst>
          </p:cNvPr>
          <p:cNvSpPr txBox="1"/>
          <p:nvPr/>
        </p:nvSpPr>
        <p:spPr>
          <a:xfrm>
            <a:off x="7737232" y="5528269"/>
            <a:ext cx="3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0.6, F1: 0.210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1C4F8-B919-BB28-D8EA-74E45D46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40" y="2109853"/>
            <a:ext cx="4770533" cy="3444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E57EB4-613D-7A4C-99B6-C5CEDB14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07" y="2091413"/>
            <a:ext cx="4808637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73913-2023-D718-37D4-A34043D6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BC6BEFD-C8DA-EE56-2F00-B24C2F714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2E316-1D66-AB86-802E-DD595C18B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CD447F-4B26-9006-E370-8506572F7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A1438E-948B-0416-A361-820F5BD2C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B741F-7938-2562-4C3E-F01522BA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7sec)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A7C75-58B5-FC1D-DDE0-33A7C72CA0BE}"/>
              </a:ext>
            </a:extLst>
          </p:cNvPr>
          <p:cNvSpPr txBox="1"/>
          <p:nvPr/>
        </p:nvSpPr>
        <p:spPr>
          <a:xfrm>
            <a:off x="2381459" y="5536642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0.3, F1: 0.332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51D4A-6903-6502-41AF-52A45957BE95}"/>
              </a:ext>
            </a:extLst>
          </p:cNvPr>
          <p:cNvSpPr txBox="1"/>
          <p:nvPr/>
        </p:nvSpPr>
        <p:spPr>
          <a:xfrm>
            <a:off x="7516167" y="5528268"/>
            <a:ext cx="31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0.4, F1: 0.344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9FCB8-EC61-E13D-7296-E18095F4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04" y="2168847"/>
            <a:ext cx="4778154" cy="3444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C3A28-CACF-803B-DFA2-AEB9EEF55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555" y="2098422"/>
            <a:ext cx="4740051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51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01675-2088-9633-2A6E-49027F55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B655B3-6A24-1E42-63EE-F978BF5ED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82F3D-4447-3122-4E41-700D63E4A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74B8D-7114-7532-1BBB-FAE96A207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9C7448-86C7-9B94-DA3B-5C6F518B1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6471A-2F6B-C8B2-7E0F-E2F6F42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7sec)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03C11-2B92-F5B6-9FFA-E7446B4523E5}"/>
              </a:ext>
            </a:extLst>
          </p:cNvPr>
          <p:cNvSpPr txBox="1"/>
          <p:nvPr/>
        </p:nvSpPr>
        <p:spPr>
          <a:xfrm>
            <a:off x="2441750" y="5566787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0.5, F1: 0.307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4ABAB-A04C-0816-64F2-D6E6F5E9E048}"/>
              </a:ext>
            </a:extLst>
          </p:cNvPr>
          <p:cNvSpPr txBox="1"/>
          <p:nvPr/>
        </p:nvSpPr>
        <p:spPr>
          <a:xfrm>
            <a:off x="7737232" y="5528269"/>
            <a:ext cx="3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0.6, F1: 0.191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6F001-B034-B2EA-3D59-9FE7BA63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6" y="2077160"/>
            <a:ext cx="4671465" cy="3490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5C8526-961F-3E08-C00C-7DAB25210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63" y="2061917"/>
            <a:ext cx="4915326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5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E28A5-30ED-05E7-7EB2-4A04DFBE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C6948D-14D3-A98A-C9D1-39BF81985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75CEE-E9C5-8EF9-44C4-842EC1700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8FAC41-C2BC-4592-4CB7-5BAEF6D96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9ADA8B-69BE-1264-8AF4-3ABA9C287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F2002-C80E-63C4-8140-E28BF6A3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9sec)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E97C4-ABFE-08C0-9507-BC83EDA9EB60}"/>
              </a:ext>
            </a:extLst>
          </p:cNvPr>
          <p:cNvSpPr txBox="1"/>
          <p:nvPr/>
        </p:nvSpPr>
        <p:spPr>
          <a:xfrm>
            <a:off x="2381459" y="5536642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0.3, F1: 0.325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354CE-F8C4-A521-53EF-F64CB5FBCA02}"/>
              </a:ext>
            </a:extLst>
          </p:cNvPr>
          <p:cNvSpPr txBox="1"/>
          <p:nvPr/>
        </p:nvSpPr>
        <p:spPr>
          <a:xfrm>
            <a:off x="7516167" y="5528268"/>
            <a:ext cx="31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0.4, F1: 0.377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047C4-9B44-C1EB-C3DA-F29D3CA9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30" y="1984484"/>
            <a:ext cx="4701947" cy="3596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1976A1-5B0C-FDA4-0272-7331672C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606" y="2048274"/>
            <a:ext cx="4816257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5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0E2DA-48EF-FF2A-D89B-4F3E71EA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91B63-BEE0-2734-7772-47F41AA9F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0662FF-9A32-71FB-F493-DB90C7034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D67443-A020-0619-7B60-AAF058A69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CC5471-F41A-894F-397D-92928A0CD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A8542-B905-4F89-26EE-E0B2166D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9sec)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4D9A6-536E-A876-7817-50B0F6144282}"/>
              </a:ext>
            </a:extLst>
          </p:cNvPr>
          <p:cNvSpPr txBox="1"/>
          <p:nvPr/>
        </p:nvSpPr>
        <p:spPr>
          <a:xfrm>
            <a:off x="2441750" y="5566787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0.5, F1: 0.329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3E9BF-C00E-4B6B-2852-F7CB5BEC2DFC}"/>
              </a:ext>
            </a:extLst>
          </p:cNvPr>
          <p:cNvSpPr txBox="1"/>
          <p:nvPr/>
        </p:nvSpPr>
        <p:spPr>
          <a:xfrm>
            <a:off x="7737232" y="5528269"/>
            <a:ext cx="3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0.6, F1: 0.201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E6224-500F-AF68-D9AD-7A9AB8DB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1" y="2073109"/>
            <a:ext cx="4892464" cy="3360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A75AFF-90A6-4088-A238-8AC4CBF63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92" y="1949953"/>
            <a:ext cx="5014395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04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B4504-1EE2-8B14-0B5A-1F404632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17C709-30D6-C8DC-9A59-5E162D2FA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3438E-1F36-E012-D64E-D644E026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CC7766-E907-16D6-EB58-E19A3A71C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DE4DBE-F050-5654-5C7A-480A1F93F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E4403-B03A-C00A-FF6B-8F6DB4E9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11sec)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8F936-FDCA-F1E1-E61C-1DEEF9FB26F7}"/>
              </a:ext>
            </a:extLst>
          </p:cNvPr>
          <p:cNvSpPr txBox="1"/>
          <p:nvPr/>
        </p:nvSpPr>
        <p:spPr>
          <a:xfrm>
            <a:off x="2381459" y="5536642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0.3, F1: 0.334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4A7D1-305A-00F3-C3F1-5E7C12B8B892}"/>
              </a:ext>
            </a:extLst>
          </p:cNvPr>
          <p:cNvSpPr txBox="1"/>
          <p:nvPr/>
        </p:nvSpPr>
        <p:spPr>
          <a:xfrm>
            <a:off x="7516167" y="5528268"/>
            <a:ext cx="31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0.4, F1: 0.353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73004-9EA2-19C8-7275-D8094EB6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70" y="2079371"/>
            <a:ext cx="4968671" cy="3505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4E548D-860B-CB7A-9EA6-1C8FB90DB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839" y="2028610"/>
            <a:ext cx="4892464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53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42948-FEF9-E5AD-D829-82E5BAF7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5B3B07-121C-9C98-CA24-18FB1398B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EB8CD2-6797-A686-DD0F-D31C686D6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93411-0B4D-771B-8CA9-51EE7B6DD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ED0759-9715-87A8-47E4-5D35F471D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4FCDC-B9E7-AF25-1C6C-4FAD51D1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(seg length = 11sec)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C694E-E660-AADF-6EEF-09827D765AA9}"/>
              </a:ext>
            </a:extLst>
          </p:cNvPr>
          <p:cNvSpPr txBox="1"/>
          <p:nvPr/>
        </p:nvSpPr>
        <p:spPr>
          <a:xfrm>
            <a:off x="2441750" y="5566787"/>
            <a:ext cx="313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0.5, F1: 0.324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837619-7DCE-2384-0052-3D25139C4913}"/>
              </a:ext>
            </a:extLst>
          </p:cNvPr>
          <p:cNvSpPr txBox="1"/>
          <p:nvPr/>
        </p:nvSpPr>
        <p:spPr>
          <a:xfrm>
            <a:off x="7737232" y="5528269"/>
            <a:ext cx="312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Threshold : 0.6, F1: 0.219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7E9A5-A49B-1E1C-0C46-ECEA4CE51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19" y="2167249"/>
            <a:ext cx="4823878" cy="346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9F68E-7C82-195D-0007-E7F08DE2B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577" y="2099408"/>
            <a:ext cx="4922947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63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E4DF0-8188-4474-80D5-43B3573A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17" name="Graphic 16" descr="Smiling Face with No Fill">
            <a:extLst>
              <a:ext uri="{FF2B5EF4-FFF2-40B4-BE49-F238E27FC236}">
                <a16:creationId xmlns:a16="http://schemas.microsoft.com/office/drawing/2014/main" id="{D00CD078-49FA-ED88-5C7C-50BC39182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2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thesis-meet-26-03-26 </Template>
  <TotalTime>118</TotalTime>
  <Words>525</Words>
  <Application>Microsoft Office PowerPoint</Application>
  <PresentationFormat>Widescreen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PowerPoint Presentation</vt:lpstr>
      <vt:lpstr>DAIC (Distress Analysis Interview Corpus) Dataset</vt:lpstr>
      <vt:lpstr>Methodology </vt:lpstr>
      <vt:lpstr>Results (each segment is treated as a single sample)</vt:lpstr>
      <vt:lpstr>Results (each segment is treated as a single sample)</vt:lpstr>
      <vt:lpstr>Results (each segment is treated as a single sample)</vt:lpstr>
      <vt:lpstr>Results (each segment is treated as a single sample)</vt:lpstr>
      <vt:lpstr>Results (seg length = 3sec)</vt:lpstr>
      <vt:lpstr>Results (seg length = 3sec)</vt:lpstr>
      <vt:lpstr>Results (seg length = 5sec)</vt:lpstr>
      <vt:lpstr>Results (seg length = 5sec)</vt:lpstr>
      <vt:lpstr>Results (seg length = 7sec)</vt:lpstr>
      <vt:lpstr>Results (seg length = 7sec)</vt:lpstr>
      <vt:lpstr>Results (seg length = 9sec)</vt:lpstr>
      <vt:lpstr>Results (seg length = 9sec)</vt:lpstr>
      <vt:lpstr>Results (seg length = 11sec)</vt:lpstr>
      <vt:lpstr>Results (seg length = 11sec)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Gupta 24250086</dc:creator>
  <cp:lastModifiedBy>Shivansh Gupta 24250086</cp:lastModifiedBy>
  <cp:revision>2</cp:revision>
  <dcterms:created xsi:type="dcterms:W3CDTF">2026-04-08T20:12:27Z</dcterms:created>
  <dcterms:modified xsi:type="dcterms:W3CDTF">2026-04-08T22:11:02Z</dcterms:modified>
</cp:coreProperties>
</file>