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ormorant Garamond Bold Italics" charset="1" panose="00000800000000000000"/>
      <p:regular r:id="rId14"/>
    </p:embeddedFont>
    <p:embeddedFont>
      <p:font typeface="Quicksand" charset="1" panose="00000000000000000000"/>
      <p:regular r:id="rId15"/>
    </p:embeddedFont>
    <p:embeddedFont>
      <p:font typeface="Canva Sans Bold" charset="1" panose="020B0803030501040103"/>
      <p:regular r:id="rId16"/>
    </p:embeddedFont>
    <p:embeddedFont>
      <p:font typeface="Canva Sans" charset="1" panose="020B05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2478342"/>
            <a:ext cx="16229942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DepreechX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7539" y="5937050"/>
            <a:ext cx="12812922" cy="199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Towards Interactive Systems for Interpretable Depression Screening via Speech</a:t>
            </a:r>
          </a:p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649752" y="7032069"/>
            <a:ext cx="6988496" cy="52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29 May, 2025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43728" y="2818399"/>
          <a:ext cx="16234916" cy="5958898"/>
        </p:xfrm>
        <a:graphic>
          <a:graphicData uri="http://schemas.openxmlformats.org/drawingml/2006/table">
            <a:tbl>
              <a:tblPr/>
              <a:tblGrid>
                <a:gridCol w="5545670"/>
                <a:gridCol w="2710778"/>
                <a:gridCol w="2712520"/>
                <a:gridCol w="2573112"/>
                <a:gridCol w="2692836"/>
              </a:tblGrid>
              <a:tr h="10315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BiLSTM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BiGRU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31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 layer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Accuracy (30 epochs)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 Acc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 Acc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48.65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52.20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64.06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76.22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83.09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99.95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83.97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99.97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41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 layer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Accuracy (30 epochs)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 Acc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 Acc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48.65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48.65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48.03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49.96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87.04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99.98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88.54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99.81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6742" y="2184671"/>
            <a:ext cx="7442824" cy="6047294"/>
          </a:xfrm>
          <a:custGeom>
            <a:avLst/>
            <a:gdLst/>
            <a:ahLst/>
            <a:cxnLst/>
            <a:rect r="r" b="b" t="t" l="l"/>
            <a:pathLst>
              <a:path h="6047294" w="7442824">
                <a:moveTo>
                  <a:pt x="0" y="0"/>
                </a:moveTo>
                <a:lnTo>
                  <a:pt x="7442824" y="0"/>
                </a:lnTo>
                <a:lnTo>
                  <a:pt x="7442824" y="6047295"/>
                </a:lnTo>
                <a:lnTo>
                  <a:pt x="0" y="6047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46923" y="2225781"/>
            <a:ext cx="7612377" cy="6006185"/>
          </a:xfrm>
          <a:custGeom>
            <a:avLst/>
            <a:gdLst/>
            <a:ahLst/>
            <a:cxnLst/>
            <a:rect r="r" b="b" t="t" l="l"/>
            <a:pathLst>
              <a:path h="6006185" w="7612377">
                <a:moveTo>
                  <a:pt x="0" y="0"/>
                </a:moveTo>
                <a:lnTo>
                  <a:pt x="7612377" y="0"/>
                </a:lnTo>
                <a:lnTo>
                  <a:pt x="7612377" y="6006185"/>
                </a:lnTo>
                <a:lnTo>
                  <a:pt x="0" y="60061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59184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1DCNN + 3-layer-BiGRU model - Confusion Matrix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04381" y="8565341"/>
            <a:ext cx="2669009" cy="5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Validation 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79233" y="8565341"/>
            <a:ext cx="2285479" cy="56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sz="329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Training Set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Testing on own dataset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384" y="2219635"/>
            <a:ext cx="13592281" cy="547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#10 participants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#10 audio samples from each participant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#11 sad audio samples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#4 happy audio samples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#85 neutral audio samples</a:t>
            </a: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04682" y="2177258"/>
            <a:ext cx="8154618" cy="5932485"/>
          </a:xfrm>
          <a:custGeom>
            <a:avLst/>
            <a:gdLst/>
            <a:ahLst/>
            <a:cxnLst/>
            <a:rect r="r" b="b" t="t" l="l"/>
            <a:pathLst>
              <a:path h="5932485" w="8154618">
                <a:moveTo>
                  <a:pt x="0" y="0"/>
                </a:moveTo>
                <a:lnTo>
                  <a:pt x="8154618" y="0"/>
                </a:lnTo>
                <a:lnTo>
                  <a:pt x="8154618" y="5932484"/>
                </a:lnTo>
                <a:lnTo>
                  <a:pt x="0" y="5932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7387" y="2659073"/>
            <a:ext cx="8386457" cy="4968855"/>
          </a:xfrm>
          <a:custGeom>
            <a:avLst/>
            <a:gdLst/>
            <a:ahLst/>
            <a:cxnLst/>
            <a:rect r="r" b="b" t="t" l="l"/>
            <a:pathLst>
              <a:path h="4968855" w="8386457">
                <a:moveTo>
                  <a:pt x="0" y="0"/>
                </a:moveTo>
                <a:lnTo>
                  <a:pt x="8386457" y="0"/>
                </a:lnTo>
                <a:lnTo>
                  <a:pt x="8386457" y="4968854"/>
                </a:lnTo>
                <a:lnTo>
                  <a:pt x="0" y="49688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 on own dataset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91831" y="7782300"/>
            <a:ext cx="3835360" cy="58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4"/>
              </a:lnSpc>
              <a:spcBef>
                <a:spcPct val="0"/>
              </a:spcBef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Accuracy per class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4384" y="599709"/>
            <a:ext cx="14072064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Testing on Indian Emotional Speech Carpora (IESC) dataset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9230" y="3010943"/>
            <a:ext cx="13592281" cy="731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#8 participants(5 males + 3 females)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#10 audio samples from 4 participants for each of the five emotions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#20 audio samples from 4 participants for each of the five emotions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#5 emotions are:  angry, fear, happy, neutral, and sad</a:t>
            </a:r>
          </a:p>
          <a:p>
            <a:pPr algn="l" marL="748559" indent="-374279" lvl="1">
              <a:lnSpc>
                <a:spcPts val="4854"/>
              </a:lnSpc>
              <a:buFont typeface="Arial"/>
              <a:buChar char="•"/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Total #600 samples</a:t>
            </a: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  <a:p>
            <a:pPr algn="l">
              <a:lnSpc>
                <a:spcPts val="485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927920"/>
            <a:ext cx="7452797" cy="5962237"/>
          </a:xfrm>
          <a:custGeom>
            <a:avLst/>
            <a:gdLst/>
            <a:ahLst/>
            <a:cxnLst/>
            <a:rect r="r" b="b" t="t" l="l"/>
            <a:pathLst>
              <a:path h="5962237" w="7452797">
                <a:moveTo>
                  <a:pt x="0" y="0"/>
                </a:moveTo>
                <a:lnTo>
                  <a:pt x="7452797" y="0"/>
                </a:lnTo>
                <a:lnTo>
                  <a:pt x="7452797" y="5962237"/>
                </a:lnTo>
                <a:lnTo>
                  <a:pt x="0" y="5962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4384" y="2527426"/>
            <a:ext cx="7382999" cy="4763225"/>
          </a:xfrm>
          <a:custGeom>
            <a:avLst/>
            <a:gdLst/>
            <a:ahLst/>
            <a:cxnLst/>
            <a:rect r="r" b="b" t="t" l="l"/>
            <a:pathLst>
              <a:path h="4763225" w="7382999">
                <a:moveTo>
                  <a:pt x="0" y="0"/>
                </a:moveTo>
                <a:lnTo>
                  <a:pt x="7382999" y="0"/>
                </a:lnTo>
                <a:lnTo>
                  <a:pt x="7382999" y="4763225"/>
                </a:lnTo>
                <a:lnTo>
                  <a:pt x="0" y="4763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 on IESC dataset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35981" y="7562715"/>
            <a:ext cx="3835360" cy="58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4"/>
              </a:lnSpc>
              <a:spcBef>
                <a:spcPct val="0"/>
              </a:spcBef>
            </a:pPr>
            <a:r>
              <a:rPr lang="en-US" sz="346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Accuracy per class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DAGoyTuBiSw</dc:identifier>
  <dcterms:modified xsi:type="dcterms:W3CDTF">2011-08-01T06:04:30Z</dcterms:modified>
  <cp:revision>1</cp:revision>
  <dc:title>Copy of Copy of Copy of White Blue Simple Modern Enhancing Sales Strategy Presentation</dc:title>
</cp:coreProperties>
</file>