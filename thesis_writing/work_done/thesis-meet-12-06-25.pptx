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rmorant Garamond Bold Italics" charset="1" panose="00000800000000000000"/>
      <p:regular r:id="rId18"/>
    </p:embeddedFont>
    <p:embeddedFont>
      <p:font typeface="Quicksan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DepreechX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37050"/>
            <a:ext cx="12812922" cy="199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Towards Interactive Systems for Interpretable Depression Screening via Speech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12 June,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Feature 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425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#10 features from the pause histogram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#10 MFCC features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#20 features per frame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79615" y="714009"/>
            <a:ext cx="4870720" cy="7306081"/>
          </a:xfrm>
          <a:custGeom>
            <a:avLst/>
            <a:gdLst/>
            <a:ahLst/>
            <a:cxnLst/>
            <a:rect r="r" b="b" t="t" l="l"/>
            <a:pathLst>
              <a:path h="7306081" w="4870720">
                <a:moveTo>
                  <a:pt x="0" y="0"/>
                </a:moveTo>
                <a:lnTo>
                  <a:pt x="4870720" y="0"/>
                </a:lnTo>
                <a:lnTo>
                  <a:pt x="4870720" y="7306081"/>
                </a:lnTo>
                <a:lnTo>
                  <a:pt x="0" y="7306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384" y="2219635"/>
            <a:ext cx="13592281" cy="12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#6 2D-convolutional layers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Followed by 1 Layer BiGRU.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4384" y="2278192"/>
            <a:ext cx="7210905" cy="5953774"/>
          </a:xfrm>
          <a:custGeom>
            <a:avLst/>
            <a:gdLst/>
            <a:ahLst/>
            <a:cxnLst/>
            <a:rect r="r" b="b" t="t" l="l"/>
            <a:pathLst>
              <a:path h="5953774" w="7210905">
                <a:moveTo>
                  <a:pt x="0" y="0"/>
                </a:moveTo>
                <a:lnTo>
                  <a:pt x="7210905" y="0"/>
                </a:lnTo>
                <a:lnTo>
                  <a:pt x="7210905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07676" y="2278192"/>
            <a:ext cx="7451624" cy="5941023"/>
          </a:xfrm>
          <a:custGeom>
            <a:avLst/>
            <a:gdLst/>
            <a:ahLst/>
            <a:cxnLst/>
            <a:rect r="r" b="b" t="t" l="l"/>
            <a:pathLst>
              <a:path h="5941023" w="7451624">
                <a:moveTo>
                  <a:pt x="0" y="0"/>
                </a:moveTo>
                <a:lnTo>
                  <a:pt x="7451624" y="0"/>
                </a:lnTo>
                <a:lnTo>
                  <a:pt x="7451624" y="5941023"/>
                </a:lnTo>
                <a:lnTo>
                  <a:pt x="0" y="5941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59184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2DCNN + 1-layer-BiGRU model - Confusion Matrix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565341"/>
            <a:ext cx="266900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9233" y="8565341"/>
            <a:ext cx="228547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Training 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Testing on YouTube Audio Clips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54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#5 samples from each of the 5 speakers under one emotion category.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#25 samples per emotion class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 #3 emotion classes - [Happy, Neutral, and Sad]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#75 samples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0566" y="2170860"/>
            <a:ext cx="8088817" cy="5945281"/>
          </a:xfrm>
          <a:custGeom>
            <a:avLst/>
            <a:gdLst/>
            <a:ahLst/>
            <a:cxnLst/>
            <a:rect r="r" b="b" t="t" l="l"/>
            <a:pathLst>
              <a:path h="5945281" w="8088817">
                <a:moveTo>
                  <a:pt x="0" y="0"/>
                </a:moveTo>
                <a:lnTo>
                  <a:pt x="8088818" y="0"/>
                </a:lnTo>
                <a:lnTo>
                  <a:pt x="8088818" y="5945280"/>
                </a:lnTo>
                <a:lnTo>
                  <a:pt x="0" y="5945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18509" y="2334148"/>
            <a:ext cx="6241907" cy="5514828"/>
          </a:xfrm>
          <a:custGeom>
            <a:avLst/>
            <a:gdLst/>
            <a:ahLst/>
            <a:cxnLst/>
            <a:rect r="r" b="b" t="t" l="l"/>
            <a:pathLst>
              <a:path h="5514828" w="6241907">
                <a:moveTo>
                  <a:pt x="0" y="0"/>
                </a:moveTo>
                <a:lnTo>
                  <a:pt x="6241907" y="0"/>
                </a:lnTo>
                <a:lnTo>
                  <a:pt x="6241907" y="5514827"/>
                </a:lnTo>
                <a:lnTo>
                  <a:pt x="0" y="551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 on own dataset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1831" y="7782300"/>
            <a:ext cx="3835360" cy="5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Accuracy per class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7239" y="2926267"/>
            <a:ext cx="14072064" cy="52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Enhanced Speech Emotion Recognition Using Averaged Valence Arousal Dominance Mapping and Deep Neural Networks (25</a:t>
            </a:r>
            <a:r>
              <a:rPr lang="en-US" sz="6000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</a:t>
            </a:r>
            <a:r>
              <a:rPr lang="en-US" sz="6000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June 2024) 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by  Davit Rizhinashvili · Abdallah Hussein Sham · Gholamreza Anbarjafari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390" y="1085167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Paper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98165" y="4031114"/>
            <a:ext cx="10924501" cy="4522680"/>
          </a:xfrm>
          <a:custGeom>
            <a:avLst/>
            <a:gdLst/>
            <a:ahLst/>
            <a:cxnLst/>
            <a:rect r="r" b="b" t="t" l="l"/>
            <a:pathLst>
              <a:path h="4522680" w="10924501">
                <a:moveTo>
                  <a:pt x="0" y="0"/>
                </a:moveTo>
                <a:lnTo>
                  <a:pt x="10924501" y="0"/>
                </a:lnTo>
                <a:lnTo>
                  <a:pt x="10924501" y="4522680"/>
                </a:lnTo>
                <a:lnTo>
                  <a:pt x="0" y="4522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384" y="2219635"/>
            <a:ext cx="13592281" cy="181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Development of robust VAD mapping.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The paper introduces a SER model based on pre-trained Wave2Vec 2.0, followed by LSTM networks and linear layers.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Methodology to Generate Reference VAD Embedding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3332021"/>
            <a:ext cx="13592281" cy="242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Used three different pre-trained networks for the generation of VAD embedding.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Grouped results based on 8 emotions and averaged them to generate a reference embedding on the RAVDESS dataset.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18249"/>
            <a:ext cx="13592281" cy="792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 training purposes: RAVDESS dataset ( 1440 audio files of 24 professional actors (12 female, 12 male)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 testing purposes: 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CREMA-D(Crowd-sourced Emotional Multimodal Actors Dataset) is a dataset of 7442 original clips from 91 actors coming from various races and ethnicities.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EMO-DB(Berlin Database of Emotional Speech) is a data set of 535 audio clips from 10 actors (5 male, 5 female) spoken in German.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TESS(Berlin Database of Emotional Speech) is a set of 200 target words by two actresses(aged 26 and 64 years) recording seven emotions.  There are #2800 samples in the TESS dataset.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2487704"/>
            <a:ext cx="11301259" cy="5311592"/>
          </a:xfrm>
          <a:custGeom>
            <a:avLst/>
            <a:gdLst/>
            <a:ahLst/>
            <a:cxnLst/>
            <a:rect r="r" b="b" t="t" l="l"/>
            <a:pathLst>
              <a:path h="5311592" w="11301259">
                <a:moveTo>
                  <a:pt x="0" y="0"/>
                </a:moveTo>
                <a:lnTo>
                  <a:pt x="11301258" y="0"/>
                </a:lnTo>
                <a:lnTo>
                  <a:pt x="11301258" y="5311592"/>
                </a:lnTo>
                <a:lnTo>
                  <a:pt x="0" y="5311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DAGqFmM0ZrQ</dc:identifier>
  <dcterms:modified xsi:type="dcterms:W3CDTF">2011-08-01T06:04:30Z</dcterms:modified>
  <cp:revision>1</cp:revision>
  <dc:title>Copy of Copy of Copy of Copy of White Blue Simple Modern Enhancing Sales Strategy Presentation</dc:title>
</cp:coreProperties>
</file>